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C2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1C24"/>
                </a:solidFill>
                <a:latin typeface="Calibri"/>
              </a:rPr>
              <a:t>Daily clones and page views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Clones</c:v>
                </c:pt>
              </c:strCache>
            </c:strRef>
          </c:tx>
          <c:spPr>
            <a:solidFill>
              <a:srgbClr val="D72F23"/>
            </a:solidFill>
            <a:ln w="25400" cap="flat">
              <a:solidFill>
                <a:srgbClr val="D72F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72F23"/>
              </a:solidFill>
              <a:ln w="9525" cap="flat">
                <a:solidFill>
                  <a:srgbClr val="D72F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09/01</c:v>
                  </c:pt>
                  <c:pt idx="1">
                    <c:v>09/02</c:v>
                  </c:pt>
                  <c:pt idx="2">
                    <c:v>09/03</c:v>
                  </c:pt>
                  <c:pt idx="3">
                    <c:v>09/04</c:v>
                  </c:pt>
                  <c:pt idx="4">
                    <c:v>09/05</c:v>
                  </c:pt>
                  <c:pt idx="5">
                    <c:v>09/06</c:v>
                  </c:pt>
                  <c:pt idx="6">
                    <c:v>09/07</c:v>
                  </c:pt>
                  <c:pt idx="7">
                    <c:v>09/08</c:v>
                  </c:pt>
                  <c:pt idx="8">
                    <c:v>09/09</c:v>
                  </c:pt>
                  <c:pt idx="9">
                    <c:v>09/10</c:v>
                  </c:pt>
                  <c:pt idx="10">
                    <c:v>09/11</c:v>
                  </c:pt>
                  <c:pt idx="11">
                    <c:v>09/12</c:v>
                  </c:pt>
                  <c:pt idx="12">
                    <c:v>09/13</c:v>
                  </c:pt>
                  <c:pt idx="13">
                    <c:v>09/14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</c:v>
                </c:pt>
                <c:pt idx="1">
                  <c:v>5</c:v>
                </c:pt>
                <c:pt idx="2">
                  <c:v>18</c:v>
                </c:pt>
                <c:pt idx="3">
                  <c:v>6</c:v>
                </c:pt>
                <c:pt idx="4">
                  <c:v>9</c:v>
                </c:pt>
                <c:pt idx="5">
                  <c:v>17</c:v>
                </c:pt>
                <c:pt idx="6">
                  <c:v>7</c:v>
                </c:pt>
                <c:pt idx="7">
                  <c:v>9</c:v>
                </c:pt>
                <c:pt idx="8">
                  <c:v>187</c:v>
                </c:pt>
                <c:pt idx="9">
                  <c:v>167</c:v>
                </c:pt>
                <c:pt idx="10">
                  <c:v>23</c:v>
                </c:pt>
                <c:pt idx="11">
                  <c:v>26</c:v>
                </c:pt>
                <c:pt idx="12">
                  <c:v>19</c:v>
                </c:pt>
                <c:pt idx="13">
                  <c:v>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Page views</c:v>
                </c:pt>
              </c:strCache>
            </c:strRef>
          </c:tx>
          <c:spPr>
            <a:solidFill>
              <a:srgbClr val="3D3A6B"/>
            </a:solidFill>
            <a:ln w="25400" cap="flat">
              <a:solidFill>
                <a:srgbClr val="3D3A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D3A6B"/>
              </a:solidFill>
              <a:ln w="9525" cap="flat">
                <a:solidFill>
                  <a:srgbClr val="3D3A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09/01</c:v>
                  </c:pt>
                  <c:pt idx="1">
                    <c:v>09/02</c:v>
                  </c:pt>
                  <c:pt idx="2">
                    <c:v>09/03</c:v>
                  </c:pt>
                  <c:pt idx="3">
                    <c:v>09/04</c:v>
                  </c:pt>
                  <c:pt idx="4">
                    <c:v>09/05</c:v>
                  </c:pt>
                  <c:pt idx="5">
                    <c:v>09/06</c:v>
                  </c:pt>
                  <c:pt idx="6">
                    <c:v>09/07</c:v>
                  </c:pt>
                  <c:pt idx="7">
                    <c:v>09/08</c:v>
                  </c:pt>
                  <c:pt idx="8">
                    <c:v>09/09</c:v>
                  </c:pt>
                  <c:pt idx="9">
                    <c:v>09/10</c:v>
                  </c:pt>
                  <c:pt idx="10">
                    <c:v>09/11</c:v>
                  </c:pt>
                  <c:pt idx="11">
                    <c:v>09/12</c:v>
                  </c:pt>
                  <c:pt idx="12">
                    <c:v>09/13</c:v>
                  </c:pt>
                  <c:pt idx="13">
                    <c:v>09/14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42</c:v>
                </c:pt>
                <c:pt idx="1">
                  <c:v>43</c:v>
                </c:pt>
                <c:pt idx="2">
                  <c:v>43</c:v>
                </c:pt>
                <c:pt idx="3">
                  <c:v>12</c:v>
                </c:pt>
                <c:pt idx="4">
                  <c:v>12</c:v>
                </c:pt>
                <c:pt idx="5">
                  <c:v>10</c:v>
                </c:pt>
                <c:pt idx="6">
                  <c:v>26</c:v>
                </c:pt>
                <c:pt idx="7">
                  <c:v>26</c:v>
                </c:pt>
                <c:pt idx="8">
                  <c:v>28</c:v>
                </c:pt>
                <c:pt idx="9">
                  <c:v>101</c:v>
                </c:pt>
                <c:pt idx="10">
                  <c:v>62</c:v>
                </c:pt>
                <c:pt idx="11">
                  <c:v>28</c:v>
                </c:pt>
                <c:pt idx="12">
                  <c:v>21</c:v>
                </c:pt>
                <c:pt idx="13">
                  <c:v>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3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AD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3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3F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C2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1C24"/>
                </a:solidFill>
                <a:latin typeface="Calibri"/>
              </a:rPr>
              <a:t>Top referrers (views)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D72F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C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chatgpt.com</c:v>
                  </c:pt>
                  <c:pt idx="1">
                    <c:v>Brave Search</c:v>
                  </c:pt>
                  <c:pt idx="2">
                    <c:v>DuckDuckGo</c:v>
                  </c:pt>
                  <c:pt idx="3">
                    <c:v>github.com</c:v>
                  </c:pt>
                  <c:pt idx="4">
                    <c:v>llm4s.org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42</c:v>
                </c:pt>
                <c:pt idx="4">
                  <c:v>46</c:v>
                </c:pt>
                <c:pt idx="5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C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C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3F6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tit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hero_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SPEAKER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Kannupriya Kalra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LLM4S Foundation  ·  AI thought leader, London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06524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LLM4S: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platform for Scala and the JVM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336292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58568"/>
            <a:ext cx="6766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the AI and Scala ecosystem through the Scala Center and Google Open Source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012948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352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Summer of Code: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the Scala Center programmes in 2024 and 2025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442716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64992"/>
            <a:ext cx="6766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courses with Manning Publications, New York, with more practical AI learning resources in progress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119372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416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speaker: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Scala and open source in more than ten countries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4549140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714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scalable backend systems in functional Scala at Sky, London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978908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01184"/>
            <a:ext cx="6766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developers through hands-on GenAI projects, open-source contributions and responsible AI education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855783" y="1188720"/>
            <a:ext cx="2650112" cy="4846320"/>
          </a:xfrm>
          <a:prstGeom prst="roundRect">
            <a:avLst>
              <a:gd name="adj" fmla="val 4141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pic>
        <p:nvPicPr>
          <p:cNvPr id="20" name="Image 0" descr="/home/claude/assets/intro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2943" y="1325880"/>
            <a:ext cx="2375792" cy="3840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947223" y="5257800"/>
            <a:ext cx="2467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Martin Odersky, creator of the Scala language, at Scala Days 2025 in Lausanne, Switzerland, discussing LLM4S</a:t>
            </a:r>
            <a:endParaRPr lang="en-US" sz="1100" dirty="0"/>
          </a:p>
        </p:txBody>
      </p:sp>
      <p:pic>
        <p:nvPicPr>
          <p:cNvPr id="22" name="Image 1" descr="/home/claude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14873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AI 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14873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demos work and systems don't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3243" y="182880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87563" y="21488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087563" y="3200400"/>
            <a:ext cx="14873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Scala and the JVM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087563" y="4114800"/>
            <a:ext cx="14873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errors as values, and the runtime you already run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7846" y="182880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52166" y="21488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352166" y="3200400"/>
            <a:ext cx="14873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in code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52166" y="4114800"/>
            <a:ext cx="14873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real code for every major capability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42449" y="182880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16769" y="21488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616769" y="3200400"/>
            <a:ext cx="14873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learned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616769" y="4114800"/>
            <a:ext cx="14873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Szork, production patterns, wins and failures, the road to 1.0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7052" y="182880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81372" y="21488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9881372" y="3200400"/>
            <a:ext cx="14873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at Microsoft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881372" y="4114800"/>
            <a:ext cx="14873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Scala, the JVM, open source, and what to build this week</a:t>
            </a:r>
            <a:endParaRPr lang="en-US" sz="1400" dirty="0"/>
          </a:p>
        </p:txBody>
      </p:sp>
      <p:pic>
        <p:nvPicPr>
          <p:cNvPr id="2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AI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amaze. Systems collapse under real load.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480560" cy="4389120"/>
          </a:xfrm>
          <a:prstGeom prst="roundRect">
            <a:avLst>
              <a:gd name="adj" fmla="val 2500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GenAI pilots show no measurable business return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NANDA, The GenAI Divide, Jul 2025 (preliminary; 153 leaders, 52 interviews)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3749040" cy="0"/>
          </a:xfrm>
          <a:prstGeom prst="line">
            <a:avLst/>
          </a:prstGeom>
          <a:noFill/>
          <a:ln w="12700">
            <a:solidFill>
              <a:srgbClr val="3A39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977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proofs of concept never reach wide deployment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983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every 33 made it to production.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94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with Lenovo, AI CIO Playbook 2025 (Mar 2025)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pilots stall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0" y="2240280"/>
            <a:ext cx="640080" cy="640080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0019" y="2393899"/>
            <a:ext cx="332842" cy="33284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355080" y="2221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answers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5877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hallucinate when nothing ties them to real data.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0" y="3264408"/>
            <a:ext cx="640080" cy="640080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019" y="3418027"/>
            <a:ext cx="332842" cy="33284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35508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cost at scale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35508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feels instant in a demo gets slow and expensive under real traffic.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0" y="4288536"/>
            <a:ext cx="640080" cy="640080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019" y="4442155"/>
            <a:ext cx="332842" cy="33284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55080" y="42702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or measure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355080" y="4636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traces, no metrics, no feedback loop, so no way to improve.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0" y="54406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cool prototype to critical system.</a:t>
            </a:r>
            <a:endParaRPr lang="en-US" sz="2000" dirty="0"/>
          </a:p>
        </p:txBody>
      </p:sp>
      <p:pic>
        <p:nvPicPr>
          <p:cNvPr id="27" name="Image 3" descr="/home/claude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MODELS TO SYSTEMS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is not a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component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3017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3566160" y="1600200"/>
            <a:ext cx="253989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87452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154" y="200619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840480" y="256032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92608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each response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34658" y="1600200"/>
            <a:ext cx="253989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8978" y="187452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52" y="200619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08978" y="256032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608978" y="292608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answers true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103157" y="1600200"/>
            <a:ext cx="253989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77477" y="187452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150" y="200619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377477" y="256032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9377477" y="292608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model act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3566160" y="3703320"/>
            <a:ext cx="253989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840480" y="397764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154" y="410931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840480" y="466344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3840480" y="502920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it did and why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334658" y="3703320"/>
            <a:ext cx="253989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608978" y="397764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652" y="41093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608978" y="466344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6608978" y="502920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 safe and compliant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9103157" y="3703320"/>
            <a:ext cx="253989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377477" y="397764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150" y="4109314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77477" y="466344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900" dirty="0"/>
          </a:p>
        </p:txBody>
      </p:sp>
      <p:sp>
        <p:nvSpPr>
          <p:cNvPr id="37" name="Text 29"/>
          <p:cNvSpPr txBox="1"/>
          <p:nvPr/>
        </p:nvSpPr>
        <p:spPr>
          <a:xfrm>
            <a:off x="9377477" y="5029200"/>
            <a:ext cx="199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keep improving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56692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gives every one of these layers a typed, testable home.</a:t>
            </a:r>
            <a:endParaRPr lang="en-US" sz="2000" dirty="0"/>
          </a:p>
        </p:txBody>
      </p:sp>
      <p:pic>
        <p:nvPicPr>
          <p:cNvPr id="39" name="Image 6" descr="/home/claude/assets/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1.0, in public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3749040"/>
            <a:ext cx="9814255" cy="0"/>
          </a:xfrm>
          <a:prstGeom prst="line">
            <a:avLst/>
          </a:prstGeom>
          <a:noFill/>
          <a:ln w="25400">
            <a:solidFill>
              <a:srgbClr val="C9C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310128"/>
            <a:ext cx="0" cy="27432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at Bay Area Scala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Francisco, right here in the Bay Area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71884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90756" y="3913632"/>
            <a:ext cx="0" cy="18288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7756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47756" y="44622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on Maven Central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47756" y="5120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Result types, tool calling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73921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92793" y="3310128"/>
            <a:ext cx="0" cy="27432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49793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49793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Summer of Code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49793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contributors: agents, RAG, multimodal, tracing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75957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829" y="3913632"/>
            <a:ext cx="0" cy="18288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829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51829" y="44622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Dev Hour begins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51829" y="5120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mob programming every Sunday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77994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6866" y="3310128"/>
            <a:ext cx="0" cy="27432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53866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653866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v0.2.0: full RAG pipeline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653866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guardrails, cost tracking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80030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8902" y="3913632"/>
            <a:ext cx="0" cy="18288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55902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55902" y="44622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v0.3.0: Result, not exceptions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55902" y="5120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exception-throwing APIs removed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482067" y="3630168"/>
            <a:ext cx="237744" cy="237744"/>
          </a:xfrm>
          <a:prstGeom prst="ellipse">
            <a:avLst/>
          </a:prstGeom>
          <a:solidFill>
            <a:srgbClr val="151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0939" y="3310128"/>
            <a:ext cx="0" cy="27432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57939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457939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v0.4.x: Scala 3, modules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457939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an 84k-line core into focused modules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820095" y="3566160"/>
            <a:ext cx="365760" cy="365760"/>
          </a:xfrm>
          <a:prstGeom prst="ellipse">
            <a:avLst/>
          </a:prstGeom>
          <a:solidFill>
            <a:srgbClr val="D72F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02975" y="3913632"/>
            <a:ext cx="0" cy="182880"/>
          </a:xfrm>
          <a:prstGeom prst="line">
            <a:avLst/>
          </a:prstGeom>
          <a:noFill/>
          <a:ln w="12700">
            <a:solidFill>
              <a:srgbClr val="C9CBD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48495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448495" y="44622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1.0: a frozen API spine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448495" y="5120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you can build a business on</a:t>
            </a:r>
            <a:endParaRPr lang="en-US" sz="1250" dirty="0"/>
          </a:p>
        </p:txBody>
      </p:sp>
      <p:pic>
        <p:nvPicPr>
          <p:cNvPr id="45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 global community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and maintainers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9456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214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Kannupriya Kalra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LLM4S Foundation. Creator of LLM4S, maintainer and community lead.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29184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186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Rory Graves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and maintainer, chief architect. Staff engineer and Scala compiler contributor.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737360" cy="438912"/>
          </a:xfrm>
          <a:prstGeom prst="roundRect">
            <a:avLst>
              <a:gd name="adj" fmla="val 25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548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S. Khot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468880" y="4754880"/>
            <a:ext cx="1737360" cy="438912"/>
          </a:xfrm>
          <a:prstGeom prst="roundRect">
            <a:avLst>
              <a:gd name="adj" fmla="val 25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68880" y="47548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Vitthal Mirji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89120" y="4754880"/>
            <a:ext cx="1737360" cy="438912"/>
          </a:xfrm>
          <a:prstGeom prst="roundRect">
            <a:avLst>
              <a:gd name="adj" fmla="val 25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0" y="47548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Iyad M. Issa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737360" cy="438912"/>
          </a:xfrm>
          <a:prstGeom prst="roundRect">
            <a:avLst>
              <a:gd name="adj" fmla="val 25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3035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Ruggiero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468880" y="5303520"/>
            <a:ext cx="1737360" cy="438912"/>
          </a:xfrm>
          <a:prstGeom prst="roundRect">
            <a:avLst>
              <a:gd name="adj" fmla="val 25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68880" y="53035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Dmitry Mamonov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155448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Summer of Code 2025 contributors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0" y="2057400"/>
            <a:ext cx="420624" cy="420624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630" y="2158350"/>
            <a:ext cx="218724" cy="21872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7150608" y="20116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Elvan Konukseven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150608" y="2286000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 ·  Agentic toolkit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583680" y="2660904"/>
            <a:ext cx="420624" cy="420624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30" y="2761854"/>
            <a:ext cx="218724" cy="21872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150608" y="261518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 Trinadh Maddikunta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7150608" y="2889504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·  RAG in a box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583680" y="3264408"/>
            <a:ext cx="420624" cy="420624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30" y="3365358"/>
            <a:ext cx="218724" cy="21872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150608" y="3218688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Anshuman Awasthi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7150608" y="3493008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·  Image, voice and multimodal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6583680" y="3867912"/>
            <a:ext cx="420624" cy="420624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30" y="3968862"/>
            <a:ext cx="218724" cy="21872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7150608" y="382219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Vishwakarma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7150608" y="4096512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·  Tracing and observability</a:t>
            </a:r>
            <a:endParaRPr lang="en-US" sz="1250" dirty="0"/>
          </a:p>
        </p:txBody>
      </p:sp>
      <p:sp>
        <p:nvSpPr>
          <p:cNvPr id="43" name="Shape 37"/>
          <p:cNvSpPr/>
          <p:nvPr/>
        </p:nvSpPr>
        <p:spPr>
          <a:xfrm>
            <a:off x="6583680" y="4526280"/>
            <a:ext cx="5059375" cy="1417320"/>
          </a:xfrm>
          <a:prstGeom prst="roundRect">
            <a:avLst>
              <a:gd name="adj" fmla="val 7742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812280" y="4617720"/>
            <a:ext cx="1104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400" dirty="0"/>
          </a:p>
        </p:txBody>
      </p:sp>
      <p:sp>
        <p:nvSpPr>
          <p:cNvPr id="45" name="Text 39"/>
          <p:cNvSpPr txBox="1"/>
          <p:nvPr/>
        </p:nvSpPr>
        <p:spPr>
          <a:xfrm>
            <a:off x="6812280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8008544" y="4617720"/>
            <a:ext cx="1104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400" dirty="0"/>
          </a:p>
        </p:txBody>
      </p:sp>
      <p:sp>
        <p:nvSpPr>
          <p:cNvPr id="47" name="Text 41"/>
          <p:cNvSpPr txBox="1"/>
          <p:nvPr/>
        </p:nvSpPr>
        <p:spPr>
          <a:xfrm>
            <a:off x="8008544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9204808" y="4617720"/>
            <a:ext cx="1104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2400" dirty="0"/>
          </a:p>
        </p:txBody>
      </p:sp>
      <p:sp>
        <p:nvSpPr>
          <p:cNvPr id="49" name="Text 43"/>
          <p:cNvSpPr txBox="1"/>
          <p:nvPr/>
        </p:nvSpPr>
        <p:spPr>
          <a:xfrm>
            <a:off x="9204808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contributors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10401071" y="4617720"/>
            <a:ext cx="1104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1,100+</a:t>
            </a:r>
            <a:endParaRPr lang="en-US" sz="2400" dirty="0"/>
          </a:p>
        </p:txBody>
      </p:sp>
      <p:sp>
        <p:nvSpPr>
          <p:cNvPr id="51" name="Text 45"/>
          <p:cNvSpPr txBox="1"/>
          <p:nvPr/>
        </p:nvSpPr>
        <p:spPr>
          <a:xfrm>
            <a:off x="10401071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52" name="Text 46"/>
          <p:cNvSpPr txBox="1"/>
          <p:nvPr/>
        </p:nvSpPr>
        <p:spPr>
          <a:xfrm>
            <a:off x="6812280" y="553212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principal and staff engineers from France, Poland and beyond</a:t>
            </a:r>
            <a:endParaRPr lang="en-US" sz="1100" dirty="0"/>
          </a:p>
        </p:txBody>
      </p:sp>
      <p:sp>
        <p:nvSpPr>
          <p:cNvPr id="53" name="Text 47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llm4s/llm4s people.md and contributor graph (2026); GSoC 2025, Scala Center</a:t>
            </a:r>
            <a:endParaRPr lang="en-US" sz="950" dirty="0"/>
          </a:p>
        </p:txBody>
      </p:sp>
      <p:pic>
        <p:nvPicPr>
          <p:cNvPr id="54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traction, in the last 14 days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traffic for llm4s/llm4s, the 14 days to 16 Sep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7864" cy="1097280"/>
          </a:xfrm>
          <a:prstGeom prst="roundRect">
            <a:avLst>
              <a:gd name="adj" fmla="val 10000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801368"/>
            <a:ext cx="73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0824" y="1691640"/>
            <a:ext cx="2567864" cy="1097280"/>
          </a:xfrm>
          <a:prstGeom prst="roundRect">
            <a:avLst>
              <a:gd name="adj" fmla="val 10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5144" y="1801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082464" y="1801368"/>
            <a:ext cx="73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cloners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2567864" cy="1097280"/>
          </a:xfrm>
          <a:prstGeom prst="roundRect">
            <a:avLst>
              <a:gd name="adj" fmla="val 10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1801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924648" y="1801368"/>
            <a:ext cx="73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75191" y="1691640"/>
            <a:ext cx="2567864" cy="1097280"/>
          </a:xfrm>
          <a:prstGeom prst="roundRect">
            <a:avLst>
              <a:gd name="adj" fmla="val 10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49511" y="1801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10766831" y="1801368"/>
            <a:ext cx="73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visitors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6858000" cy="2926080"/>
          </a:xfrm>
          <a:prstGeom prst="roundRect">
            <a:avLst>
              <a:gd name="adj" fmla="val 375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graphicFrame>
        <p:nvGraphicFramePr>
          <p:cNvPr id="18" name="Chart 0" descr=""/>
          <p:cNvGraphicFramePr/>
          <p:nvPr/>
        </p:nvGraphicFramePr>
        <p:xfrm>
          <a:off x="685800" y="3108960"/>
          <a:ext cx="6583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680960" y="3017520"/>
            <a:ext cx="3962095" cy="2926080"/>
          </a:xfrm>
          <a:prstGeom prst="roundRect">
            <a:avLst>
              <a:gd name="adj" fmla="val 375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graphicFrame>
        <p:nvGraphicFramePr>
          <p:cNvPr id="20" name="Chart 1" descr=""/>
          <p:cNvGraphicFramePr/>
          <p:nvPr/>
        </p:nvGraphicFramePr>
        <p:xfrm>
          <a:off x="7772400" y="3108960"/>
          <a:ext cx="377921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repo Insights &gt; Traffic, llm4s/llm4s, captured 16 Sep 2026</a:t>
            </a:r>
            <a:endParaRPr lang="en-US" sz="950" dirty="0"/>
          </a:p>
        </p:txBody>
      </p:sp>
      <p:pic>
        <p:nvPicPr>
          <p:cNvPr id="22" name="Image 0" descr="/home/claude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SCALA AND THE JVM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Scala for LLM applications?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LLM work happens in Python.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production AI deserves a stronger foundation: one where mistakes surface at compile time, not at 2am.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20640" y="1600200"/>
            <a:ext cx="6522415" cy="932688"/>
          </a:xfrm>
          <a:prstGeom prst="roundRect">
            <a:avLst>
              <a:gd name="adj" fmla="val 1176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1783080"/>
            <a:ext cx="566928" cy="5669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5303" y="191914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26480" y="1728216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turn runtime surprises into compile errors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075688"/>
            <a:ext cx="5287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roles, config, tool schemas and provider cases are checked before you ship.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2697480"/>
            <a:ext cx="6522415" cy="932688"/>
          </a:xfrm>
          <a:prstGeom prst="roundRect">
            <a:avLst>
              <a:gd name="adj" fmla="val 1176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2880360"/>
            <a:ext cx="566928" cy="5669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03" y="30164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26480" y="2825496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values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3172968"/>
            <a:ext cx="5287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Result[T] makes every failure path explicit and composable.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120640" y="3794760"/>
            <a:ext cx="6522415" cy="932688"/>
          </a:xfrm>
          <a:prstGeom prst="roundRect">
            <a:avLst>
              <a:gd name="adj" fmla="val 1176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49240" y="3977640"/>
            <a:ext cx="566928" cy="5669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303" y="411370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3922776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conversations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126480" y="4270248"/>
            <a:ext cx="5287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 can persist, resume, test and reason about.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120640" y="4892040"/>
            <a:ext cx="6522415" cy="932688"/>
          </a:xfrm>
          <a:prstGeom prst="roundRect">
            <a:avLst>
              <a:gd name="adj" fmla="val 1176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349240" y="5074920"/>
            <a:ext cx="566928" cy="5669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303" y="521098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126480" y="5020056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JVM you already run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126480" y="5367528"/>
            <a:ext cx="5287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libraries, real concurrency, deployed next to your services.</a:t>
            </a:r>
            <a:endParaRPr lang="en-US" sz="1400" dirty="0"/>
          </a:p>
        </p:txBody>
      </p:sp>
      <p:pic>
        <p:nvPicPr>
          <p:cNvPr id="26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typo that compiled and shipped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155448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roles were strings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364328" cy="2834640"/>
          </a:xfrm>
          <a:prstGeom prst="roundRect">
            <a:avLst>
              <a:gd name="adj" fmla="val 3871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212848"/>
            <a:ext cx="481568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role is just a String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msg = Message(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6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   = "asistant",   // typo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= reply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compiles, passes review,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misbehaves in production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5727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62776" y="155448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roles are an enum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278728" y="2011680"/>
            <a:ext cx="5364328" cy="2834640"/>
          </a:xfrm>
          <a:prstGeom prst="roundRect">
            <a:avLst>
              <a:gd name="adj" fmla="val 3871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53048" y="2212848"/>
            <a:ext cx="481568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closed set of cases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MessageRole: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System, User, Assistant, Tool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6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MessageRole.Asistant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value Asistant is not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member of MessageRole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029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502920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migrated from strings to types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338218" y="5029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1"/>
          <p:cNvSpPr txBox="1"/>
          <p:nvPr/>
        </p:nvSpPr>
        <p:spPr>
          <a:xfrm>
            <a:off x="5298338" y="502920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classes introduced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127797" y="5029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9087917" y="502920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 instead of a production bug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852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from the real LLM4S change (PR #216)</a:t>
            </a:r>
            <a:endParaRPr lang="en-US" sz="1000" dirty="0"/>
          </a:p>
        </p:txBody>
      </p:sp>
      <p:pic>
        <p:nvPicPr>
          <p:cNvPr id="19" name="Image 2" descr="/home/claude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are values, not surprises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343400"/>
          </a:xfrm>
          <a:prstGeom prst="roundRect">
            <a:avLst>
              <a:gd name="adj" fmla="val 2526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576072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result = for {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  &lt;- Llm4sConfig.provider()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   &lt;- LLMConnect.getClient(config)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&lt;- client.complete(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List(UserMessage("Explain MCP")),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   = None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yield response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match {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Right(c)  =&gt; println(c.content)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Left(err) =&gt; println(s"Error: $err")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blocks deleted in one safety refactor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108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v0.3.0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840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last APIs that threw exceptions, in favor of Result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4572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 hierarchy, replacing "Unknown error" for everything</a:t>
            </a:r>
            <a:endParaRPr lang="en-US" sz="1600" dirty="0"/>
          </a:p>
        </p:txBody>
      </p:sp>
      <p:pic>
        <p:nvPicPr>
          <p:cNvPr id="12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LLM4S fits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11680" cy="4297680"/>
          </a:xfrm>
          <a:prstGeom prst="roundRect">
            <a:avLst>
              <a:gd name="adj" fmla="val 5455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965960"/>
            <a:ext cx="640080" cy="64008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JVM app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3 today. Java, Kotlin and Spring are on the 1.0 road.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06040" y="3749040"/>
            <a:ext cx="365760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017520" y="1600200"/>
            <a:ext cx="6172200" cy="771754"/>
          </a:xfrm>
          <a:prstGeom prst="roundRect">
            <a:avLst>
              <a:gd name="adj" fmla="val 14218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1600200"/>
            <a:ext cx="132588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API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600200"/>
            <a:ext cx="443484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Result[T]  ·  typed config  ·  streaming  ·  reliability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17520" y="2481682"/>
            <a:ext cx="6172200" cy="771754"/>
          </a:xfrm>
          <a:prstGeom prst="roundRect">
            <a:avLst>
              <a:gd name="adj" fmla="val 14218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46120" y="2481682"/>
            <a:ext cx="132588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481682"/>
            <a:ext cx="443484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·  MCP  ·  handoffs  ·  guardrails  ·  memory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17520" y="3363163"/>
            <a:ext cx="6172200" cy="771754"/>
          </a:xfrm>
          <a:prstGeom prst="roundRect">
            <a:avLst>
              <a:gd name="adj" fmla="val 14218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46120" y="3363163"/>
            <a:ext cx="132588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363163"/>
            <a:ext cx="443484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 ·  Qdrant  ·  SQLite  ·  BM25 hybrid  ·  reranking  ·  eval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17520" y="4244645"/>
            <a:ext cx="6172200" cy="771754"/>
          </a:xfrm>
          <a:prstGeom prst="roundRect">
            <a:avLst>
              <a:gd name="adj" fmla="val 14218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46120" y="4244645"/>
            <a:ext cx="132588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244645"/>
            <a:ext cx="443484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 ·  text-to-speech  ·  images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017520" y="5126126"/>
            <a:ext cx="6172200" cy="771754"/>
          </a:xfrm>
          <a:prstGeom prst="roundRect">
            <a:avLst>
              <a:gd name="adj" fmla="val 14218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46120" y="5126126"/>
            <a:ext cx="132588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5126126"/>
            <a:ext cx="443484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·  Azure OpenAI  ·  Anthropic  ·  Gemini  ·  Ollama  ·  +6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372600" y="1600200"/>
            <a:ext cx="2270455" cy="2057400"/>
          </a:xfrm>
          <a:prstGeom prst="roundRect">
            <a:avLst>
              <a:gd name="adj" fmla="val 5333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72600" y="3840480"/>
            <a:ext cx="2270455" cy="2057400"/>
          </a:xfrm>
          <a:prstGeom prst="roundRect">
            <a:avLst>
              <a:gd name="adj" fmla="val 5333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27" name="Image 1" descr="/home/claude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601200" y="187452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4" y="2006194"/>
            <a:ext cx="285293" cy="28529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601200" y="2560320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9601200" y="292608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OpenTelemetry, tokens, latency, cost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9601200" y="411480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874" y="4246474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601200" y="4800600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sandbox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9601200" y="516636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Docker-isolated tool execution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call, any provider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LLM4S call returns a Result. You compose steps, and the compiler makes you handle failure.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537960" cy="4160520"/>
          </a:xfrm>
          <a:prstGeom prst="roundRect">
            <a:avLst>
              <a:gd name="adj" fmla="val 2637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84248"/>
            <a:ext cx="598932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result = for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  &lt;- Llm4sConfig.provider()      // reads env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   &lt;- LLMConnect.getClient(config)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&lt;- client.complete(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List(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SystemMessage("You are a helpful assistant."),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UserMessage("What is Scala?")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None                            // uses config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yield response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match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Right(c)   =&gt; println(c.content)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Left(err)  =&gt; println(s"Error: $err")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783080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 with config, not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52360" y="2194560"/>
            <a:ext cx="4190695" cy="1600200"/>
          </a:xfrm>
          <a:prstGeom prst="roundRect">
            <a:avLst>
              <a:gd name="adj" fmla="val 6857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2395728"/>
            <a:ext cx="36420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LLM_MODEL=openai/gpt-4o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LLM_MODEL=azure/gpt-4o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or, fully local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LLM_MODEL=ollama/mistral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providers, one interface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2360" y="4389120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4389120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94978" y="4389120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94978" y="4389120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337597" y="4389120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7597" y="4389120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4901184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4901184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94978" y="4901184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94978" y="4901184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337597" y="4901184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37597" y="4901184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52360" y="5413248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5413248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94978" y="5413248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94978" y="5413248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337597" y="5413248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7597" y="5413248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52360" y="5925312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5925312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94978" y="5925312"/>
            <a:ext cx="1305458" cy="402336"/>
          </a:xfrm>
          <a:prstGeom prst="roundRect">
            <a:avLst>
              <a:gd name="adj" fmla="val 27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94978" y="5925312"/>
            <a:ext cx="1305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provider list: llm4s.org docs and README, llm4s/llm4s v0.4.1 (2026)</a:t>
            </a:r>
            <a:endParaRPr lang="en-US" sz="950" dirty="0"/>
          </a:p>
        </p:txBody>
      </p:sp>
      <p:pic>
        <p:nvPicPr>
          <p:cNvPr id="34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the model act, safely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3611880"/>
          </a:xfrm>
          <a:prstGeom prst="roundRect">
            <a:avLst>
              <a:gd name="adj" fmla="val 3038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512064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plain Scala function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getWeather(location: String): String =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s"The weather in $location is sunny, 72F"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weatherTool = ToolFunction(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= "get_weather",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"Current weather for a location",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   = getWeather _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tools = new ToolRegistry(Seq(weatherTool))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agent.run("What's the weather in Paris?", tools)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493715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tools: date and time, HTTP, web search, files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897880"/>
            <a:ext cx="411480" cy="411480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5996635"/>
            <a:ext cx="213970" cy="2139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5897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can run in a Docker-isolated workspace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787488" y="164592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87488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067648" y="2395728"/>
            <a:ext cx="914" cy="42062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787488" y="283464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87488" y="2834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H="1">
            <a:off x="7711364" y="3538728"/>
            <a:ext cx="1356284" cy="502920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492240" y="4069080"/>
            <a:ext cx="243824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20840" y="429768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440740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315200" y="4297680"/>
            <a:ext cx="1432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720840" y="4892040"/>
            <a:ext cx="1981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Scala methods, built-in tools, sandboxed shell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67648" y="3538728"/>
            <a:ext cx="1356284" cy="502920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9204808" y="4069080"/>
            <a:ext cx="2438248" cy="1828800"/>
          </a:xfrm>
          <a:prstGeom prst="roundRect">
            <a:avLst>
              <a:gd name="adj" fmla="val 600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433408" y="429768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136" y="440740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027768" y="4297680"/>
            <a:ext cx="1432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433408" y="4892040"/>
            <a:ext cx="1981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databases, internal services, anything that speaks MCP</a:t>
            </a:r>
            <a:endParaRPr lang="en-US" sz="1300" dirty="0"/>
          </a:p>
        </p:txBody>
      </p:sp>
      <p:pic>
        <p:nvPicPr>
          <p:cNvPr id="29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any MCP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61264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server = MCPServerConfig.streamableHTTP(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= "mcp-tools-server",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    = "http://localhost:8080/mcp",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 = 30.seconds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local tools and remote MCP tools, one registry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Using.resource(new MCPToolRegistry(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Seq(server), Seq(weatherTool), 10.minutes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 tools =&gt;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agent.run(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    = "Convert 100 USD to EUR, then check Paris",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    = tools,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maxSteps = Some(5)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530352" cy="530352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804" y="1773204"/>
            <a:ext cx="275783" cy="2757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02752" y="1618488"/>
            <a:ext cx="334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for tools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302752" y="1947672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server once, and the agent discovers its tools.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589520" y="2724912"/>
            <a:ext cx="530352" cy="530352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804" y="2852196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02752" y="2697480"/>
            <a:ext cx="334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local and remote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8302752" y="3026664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tools take precedence when names collide.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589520" y="3803904"/>
            <a:ext cx="530352" cy="530352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804" y="3931188"/>
            <a:ext cx="275783" cy="27578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02752" y="3776472"/>
            <a:ext cx="334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fallback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8302752" y="4105656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HTTP, SSE or stdio, handled for you.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589520" y="4882896"/>
            <a:ext cx="530352" cy="530352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804" y="5010180"/>
            <a:ext cx="275783" cy="27578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02752" y="4855464"/>
            <a:ext cx="334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8302752" y="5184648"/>
            <a:ext cx="3340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across the industry, including Microsoft and GitHub.</a:t>
            </a:r>
            <a:endParaRPr lang="en-US" sz="1350" dirty="0"/>
          </a:p>
        </p:txBody>
      </p:sp>
      <p:pic>
        <p:nvPicPr>
          <p:cNvPr id="22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hand off, check and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50592" y="17830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0592" y="17830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52544" y="17830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52544" y="17830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6448" y="17830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56448" y="17830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0" y="17830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17830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4496" y="1673352"/>
            <a:ext cx="1536192" cy="548640"/>
          </a:xfrm>
          <a:prstGeom prst="roundRect">
            <a:avLst>
              <a:gd name="adj" fmla="val 20000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67335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54496" y="2350008"/>
            <a:ext cx="1536192" cy="548640"/>
          </a:xfrm>
          <a:prstGeom prst="roundRect">
            <a:avLst>
              <a:gd name="adj" fmla="val 20000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35000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21408" y="2286000"/>
            <a:ext cx="29260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23360" y="2286000"/>
            <a:ext cx="29260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29216" y="2286000"/>
            <a:ext cx="29260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925312" y="1947672"/>
            <a:ext cx="292608" cy="338328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27264" y="1947672"/>
            <a:ext cx="292608" cy="338328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25312" y="2286000"/>
            <a:ext cx="292608" cy="338328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7827264" y="2286000"/>
            <a:ext cx="292608" cy="338328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888736" y="13258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a specialist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52544" y="3246120"/>
            <a:ext cx="3438144" cy="822960"/>
          </a:xfrm>
          <a:prstGeom prst="roundRect">
            <a:avLst>
              <a:gd name="adj" fmla="val 13333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3410712"/>
            <a:ext cx="493776" cy="493776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3930" y="3529218"/>
            <a:ext cx="256764" cy="25676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175504" y="3319272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· long-term · entities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120640" y="2788920"/>
            <a:ext cx="0" cy="457200"/>
          </a:xfrm>
          <a:prstGeom prst="line">
            <a:avLst/>
          </a:prstGeom>
          <a:noFill/>
          <a:ln w="15875">
            <a:solidFill>
              <a:srgbClr val="9A9EAB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7022592" y="2898648"/>
            <a:ext cx="0" cy="347472"/>
          </a:xfrm>
          <a:prstGeom prst="line">
            <a:avLst/>
          </a:prstGeom>
          <a:noFill/>
          <a:ln w="15875">
            <a:solidFill>
              <a:srgbClr val="9A9EAB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548640" y="438912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727448"/>
            <a:ext cx="237744" cy="237744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371600" y="46177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777240" y="5166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delegation to specialist agents, with context carried across.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4338218" y="438912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66818" y="461772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46" y="4727448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161178" y="46177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41" name="Text 36"/>
          <p:cNvSpPr txBox="1"/>
          <p:nvPr/>
        </p:nvSpPr>
        <p:spPr>
          <a:xfrm>
            <a:off x="4566818" y="5166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profanity, JSON and tone checks, plus LLM-as-judge.</a:t>
            </a:r>
            <a:endParaRPr lang="en-US" sz="1350" dirty="0"/>
          </a:p>
        </p:txBody>
      </p:sp>
      <p:sp>
        <p:nvSpPr>
          <p:cNvPr id="42" name="Shape 37"/>
          <p:cNvSpPr/>
          <p:nvPr/>
        </p:nvSpPr>
        <p:spPr>
          <a:xfrm>
            <a:off x="8127797" y="438912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356397" y="461772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125" y="4727448"/>
            <a:ext cx="237744" cy="237744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8950757" y="46177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</a:t>
            </a:r>
            <a:endParaRPr lang="en-US" sz="1700" dirty="0"/>
          </a:p>
        </p:txBody>
      </p:sp>
      <p:sp>
        <p:nvSpPr>
          <p:cNvPr id="46" name="Text 40"/>
          <p:cNvSpPr txBox="1"/>
          <p:nvPr/>
        </p:nvSpPr>
        <p:spPr>
          <a:xfrm>
            <a:off x="8356397" y="5166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in-process, SQLite, Postgres or a vector store. Save and resume sessions.</a:t>
            </a:r>
            <a:endParaRPr lang="en-US" sz="1350" dirty="0"/>
          </a:p>
        </p:txBody>
      </p:sp>
      <p:pic>
        <p:nvPicPr>
          <p:cNvPr id="47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Handoffs and guardrails, in a few lines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a specialist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4328" cy="3931920"/>
          </a:xfrm>
          <a:prstGeom prst="roundRect">
            <a:avLst>
              <a:gd name="adj" fmla="val 2791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481568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mathAgent = new Agent(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        = client,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systemMessage = Some(SystemMessage(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are a math expert."))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mainAgent.run(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   = "What is the integral of x^2?",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    = ToolRegistry.empty,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handoffs = Seq(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Handoff.to(mathAgent, "Math question"))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5544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what goes in and out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8728" y="2011680"/>
            <a:ext cx="5364328" cy="3931920"/>
          </a:xfrm>
          <a:prstGeom prst="roundRect">
            <a:avLst>
              <a:gd name="adj" fmla="val 2791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212848"/>
            <a:ext cx="481568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userInput,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 = tools,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inputGuardrails = Seq(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LengthCheck(min = 1, max = 10000),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ProfanityFilter(),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PromptInjectionDetector()),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outputGuardrails = Seq(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JSONValidator(),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PIIMasker())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failures return Left(GuardrailError(...))</a:t>
            </a:r>
            <a:endParaRPr lang="en-US" sz="1250" dirty="0"/>
          </a:p>
        </p:txBody>
      </p:sp>
      <p:pic>
        <p:nvPicPr>
          <p:cNvPr id="10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by design: retrieve, then generate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62851" cy="1234440"/>
          </a:xfrm>
          <a:prstGeom prst="roundRect">
            <a:avLst>
              <a:gd name="adj" fmla="val 88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1902318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01368"/>
            <a:ext cx="10941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31720"/>
            <a:ext cx="159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web pages, databases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48067" y="2217420"/>
            <a:ext cx="24688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31531" y="1600200"/>
            <a:ext cx="1962851" cy="1234440"/>
          </a:xfrm>
          <a:prstGeom prst="roundRect">
            <a:avLst>
              <a:gd name="adj" fmla="val 88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32699" y="1801368"/>
            <a:ext cx="420624" cy="42062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649" y="190231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3051" y="1801368"/>
            <a:ext cx="10941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embed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032699" y="2331720"/>
            <a:ext cx="159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Sentence-aware chunking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830958" y="2217420"/>
            <a:ext cx="24688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114422" y="1600200"/>
            <a:ext cx="1962851" cy="1234440"/>
          </a:xfrm>
          <a:prstGeom prst="roundRect">
            <a:avLst>
              <a:gd name="adj" fmla="val 88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15590" y="1801368"/>
            <a:ext cx="420624" cy="42062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40" y="19023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45942" y="1801368"/>
            <a:ext cx="10941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315590" y="2331720"/>
            <a:ext cx="159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plus BM25 keywords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113849" y="2217420"/>
            <a:ext cx="24688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97313" y="1600200"/>
            <a:ext cx="1962851" cy="1234440"/>
          </a:xfrm>
          <a:prstGeom prst="roundRect">
            <a:avLst>
              <a:gd name="adj" fmla="val 888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98481" y="1801368"/>
            <a:ext cx="420624" cy="42062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431" y="1902318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28833" y="1801368"/>
            <a:ext cx="10941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598481" y="2331720"/>
            <a:ext cx="159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396740" y="2217420"/>
            <a:ext cx="246888" cy="914"/>
          </a:xfrm>
          <a:prstGeom prst="line">
            <a:avLst/>
          </a:prstGeom>
          <a:noFill/>
          <a:ln w="22225">
            <a:solidFill>
              <a:srgbClr val="9A9EA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680204" y="1600200"/>
            <a:ext cx="1962851" cy="1234440"/>
          </a:xfrm>
          <a:prstGeom prst="roundRect">
            <a:avLst>
              <a:gd name="adj" fmla="val 8889"/>
            </a:avLst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881372" y="18013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322" y="1902318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411724" y="1801368"/>
            <a:ext cx="10941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881372" y="2331720"/>
            <a:ext cx="159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retrieved context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548640" y="310896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44728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33375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store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777240" y="38862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Qdrant or SQLite, with keyword search in PostgreSQL or SQLite FTS5.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4338218" y="310896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566818" y="333756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546" y="3447288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161178" y="33375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permissions</a:t>
            </a:r>
            <a:endParaRPr lang="en-US" sz="1700" dirty="0"/>
          </a:p>
        </p:txBody>
      </p:sp>
      <p:sp>
        <p:nvSpPr>
          <p:cNvPr id="42" name="Text 33"/>
          <p:cNvSpPr txBox="1"/>
          <p:nvPr/>
        </p:nvSpPr>
        <p:spPr>
          <a:xfrm>
            <a:off x="4566818" y="38862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 RAG, so people only retrieve what they're allowed to see.</a:t>
            </a:r>
            <a:endParaRPr lang="en-US" sz="1350" dirty="0"/>
          </a:p>
        </p:txBody>
      </p:sp>
      <p:sp>
        <p:nvSpPr>
          <p:cNvPr id="43" name="Shape 34"/>
          <p:cNvSpPr/>
          <p:nvPr/>
        </p:nvSpPr>
        <p:spPr>
          <a:xfrm>
            <a:off x="8127797" y="310896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8356397" y="333756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125" y="3447288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950757" y="33375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</a:t>
            </a:r>
            <a:endParaRPr lang="en-US" sz="1700" dirty="0"/>
          </a:p>
        </p:txBody>
      </p:sp>
      <p:sp>
        <p:nvSpPr>
          <p:cNvPr id="47" name="Text 37"/>
          <p:cNvSpPr txBox="1"/>
          <p:nvPr/>
        </p:nvSpPr>
        <p:spPr>
          <a:xfrm>
            <a:off x="8356397" y="38862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RAGAS-style evaluation and a benchmarking harness, plus cost tracking.</a:t>
            </a:r>
            <a:endParaRPr lang="en-US" sz="1350" dirty="0"/>
          </a:p>
        </p:txBody>
      </p:sp>
      <p:sp>
        <p:nvSpPr>
          <p:cNvPr id="48" name="Shape 38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22960" y="5097780"/>
            <a:ext cx="640080" cy="64008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579" y="5251399"/>
            <a:ext cx="332842" cy="33284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691640" y="4892040"/>
            <a:ext cx="9677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 a Box: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RAG service built on LLM4S. REST API, pgvector, hybrid search, Docker Compose.  </a:t>
            </a:r>
            <a:pPr indent="0" marL="0">
              <a:buNone/>
            </a:pPr>
            <a:r>
              <a:rPr lang="en-US" sz="15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github.com/llm4s/rag_in_a_box</a:t>
            </a:r>
            <a:endParaRPr lang="en-US" sz="1550" dirty="0"/>
          </a:p>
        </p:txBody>
      </p:sp>
      <p:pic>
        <p:nvPicPr>
          <p:cNvPr id="52" name="Image 9" descr="/home/claude/assets/lo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STREAMING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 step, as it happens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agent events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400800" cy="3931920"/>
          </a:xfrm>
          <a:prstGeom prst="roundRect">
            <a:avLst>
              <a:gd name="adj" fmla="val 2791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585216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agent.runWithEvents(query, tools)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TextDelta(text, _) =&gt;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print(text)  // real-time tokens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ToolCallStarted(_, name, _, _) =&gt;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println(s"Calling $name...")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ToolCallCompleted(_, name, _, _, ms, _) =&gt;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println(s"$name completed in ${ms}ms")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AgentCompleted(_, steps, totalMs, _) =&gt;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println(s"Done in $steps steps (${totalMs}ms)")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_ =&gt; 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60920" y="1554480"/>
            <a:ext cx="457200" cy="4572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4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0" y="155448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one setting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360920" y="2148840"/>
            <a:ext cx="4282135" cy="1508760"/>
          </a:xfrm>
          <a:prstGeom prst="roundRect">
            <a:avLst>
              <a:gd name="adj" fmla="val 7273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2350008"/>
            <a:ext cx="373349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8E8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Langfuse in production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TRACING_MODE=langfuse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LANGFUSE_PUBLIC_KEY=pk-lf-...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LANGFUSE_SECRET_KEY=sk-lf-...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886200"/>
            <a:ext cx="4282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tracing for local development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export module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usage, latency and cost per call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provider exchange logs for debugging</a:t>
            </a:r>
            <a:endParaRPr lang="en-US" sz="1450" dirty="0"/>
          </a:p>
        </p:txBody>
      </p:sp>
      <p:pic>
        <p:nvPicPr>
          <p:cNvPr id="13" name="Image 1" descr="/home/claude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MULTIMODAL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text: voice and images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926080"/>
          </a:xfrm>
          <a:prstGeom prst="roundRect">
            <a:avLst>
              <a:gd name="adj" fmla="val 375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089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188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voice into input for the same agents and tools.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8218" y="1600200"/>
            <a:ext cx="3515258" cy="2926080"/>
          </a:xfrm>
          <a:prstGeom prst="roundRect">
            <a:avLst>
              <a:gd name="adj" fmla="val 375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8258" y="1965960"/>
            <a:ext cx="914400" cy="9144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14" y="21854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31089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361188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app a voice without leaving the JVM.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600200"/>
            <a:ext cx="3515258" cy="2926080"/>
          </a:xfrm>
          <a:prstGeom prst="roundRect">
            <a:avLst>
              <a:gd name="adj" fmla="val 3750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47837" y="1965960"/>
            <a:ext cx="914400" cy="91440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293" y="218541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31089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361188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analyze images through one API.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52285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84632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labels: </a:t>
            </a:r>
            <a:pPr indent="0" marL="0">
              <a:buNone/>
            </a:pPr>
            <a:r>
              <a:rPr lang="en-US" sz="16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image APIs are marked Experimental for 1.0. They work today, and they may still change. We'd rather tell you now than surprise you later.</a:t>
            </a:r>
            <a:endParaRPr lang="en-US" sz="1600" dirty="0"/>
          </a:p>
        </p:txBody>
      </p:sp>
      <p:pic>
        <p:nvPicPr>
          <p:cNvPr id="23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LLM4S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already been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 a Box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RAG service: document ingestion, hybrid search and grounded answers over a REST API.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90824" y="160020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65144" y="1874520"/>
            <a:ext cx="731520" cy="7315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709" y="20500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2788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agents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2461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run commands and work with code inside a Docker-isolated workspace.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33008" y="160020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07328" y="1874520"/>
            <a:ext cx="731520" cy="7315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92" y="20500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2788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examples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2461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streaming, agents, guardrails, memory, RAG, tools and reasoning modes. Clone and run.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75191" y="160020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49511" y="1874520"/>
            <a:ext cx="731520" cy="7315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76" y="20500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278892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kit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2461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 new llm4s/llm4s.g8 creates a working project with CI, formatting and tests.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253228"/>
            <a:ext cx="512064" cy="51206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55" y="5376123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0749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visibility: </a:t>
            </a:r>
            <a:pPr indent="0" marL="0">
              <a:buNone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is tracked on Linux Foundation LFX Insights, listed in its LLM API gateways and local inference collection alongside Ollama, vLLM and LiteLLM.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llm4s/llm4s and llm4s/szork READMEs; llm4s.org examples; LFX Insights (2026)</a:t>
            </a:r>
            <a:endParaRPr lang="en-US" sz="950" dirty="0"/>
          </a:p>
        </p:txBody>
      </p:sp>
      <p:pic>
        <p:nvPicPr>
          <p:cNvPr id="29" name="Image 5" descr="/home/claude/assets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LLM4S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Szork: an AI Dungeon Master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voice-controlled text adventure that reimagines Zork. An LLM4S agent runs the game: it narrates the story, manages the world and inventory, and reacts to anything the player says.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12064" cy="51206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304897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28895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 Dungeon Master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story, game state and inventory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675888"/>
            <a:ext cx="512064" cy="51206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3798783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36393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moves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61872" y="39410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for natural commands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425696"/>
            <a:ext cx="512064" cy="51206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548591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61872" y="4389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aloud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61872" y="4690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brings the story to life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175504"/>
            <a:ext cx="512064" cy="512064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5298399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61872" y="51389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scenes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261872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art for every new location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949440" y="1508760"/>
            <a:ext cx="4693615" cy="2331720"/>
          </a:xfrm>
          <a:prstGeom prst="roundRect">
            <a:avLst>
              <a:gd name="adj" fmla="val 4706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269480" y="169164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Scala Days 2025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2057400"/>
            <a:ext cx="27733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recording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EPFL, Lausanne, Switzerland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youtube.com/watch?v=5od95FbNjiI</a:t>
            </a:r>
            <a:endParaRPr lang="en-US" sz="2000" dirty="0"/>
          </a:p>
        </p:txBody>
      </p:sp>
      <p:pic>
        <p:nvPicPr>
          <p:cNvPr id="24" name="Image 4" descr="/home/claude/assets/qr_szork_t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575" y="1874520"/>
            <a:ext cx="1234440" cy="123444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949440" y="3977640"/>
            <a:ext cx="4693615" cy="1965960"/>
          </a:xfrm>
          <a:prstGeom prst="roundRect">
            <a:avLst>
              <a:gd name="adj" fmla="val 5581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269480" y="411480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features in play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7269480" y="4572000"/>
            <a:ext cx="1259738" cy="384048"/>
          </a:xfrm>
          <a:prstGeom prst="roundRect">
            <a:avLst>
              <a:gd name="adj" fmla="val 28571"/>
            </a:avLst>
          </a:prstGeom>
          <a:solidFill>
            <a:srgbClr val="3A3956"/>
          </a:solidFill>
          <a:ln w="12700">
            <a:solidFill>
              <a:srgbClr val="3A3956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269480" y="4572000"/>
            <a:ext cx="1259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666378" y="4572000"/>
            <a:ext cx="1259738" cy="384048"/>
          </a:xfrm>
          <a:prstGeom prst="roundRect">
            <a:avLst>
              <a:gd name="adj" fmla="val 28571"/>
            </a:avLst>
          </a:prstGeom>
          <a:solidFill>
            <a:srgbClr val="3A3956"/>
          </a:solidFill>
          <a:ln w="12700">
            <a:solidFill>
              <a:srgbClr val="3A3956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66378" y="4572000"/>
            <a:ext cx="1259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10063277" y="4572000"/>
            <a:ext cx="1259738" cy="384048"/>
          </a:xfrm>
          <a:prstGeom prst="roundRect">
            <a:avLst>
              <a:gd name="adj" fmla="val 28571"/>
            </a:avLst>
          </a:prstGeom>
          <a:solidFill>
            <a:srgbClr val="3A3956"/>
          </a:solidFill>
          <a:ln w="12700">
            <a:solidFill>
              <a:srgbClr val="3A3956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063277" y="4572000"/>
            <a:ext cx="1259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269480" y="5074920"/>
            <a:ext cx="1259738" cy="384048"/>
          </a:xfrm>
          <a:prstGeom prst="roundRect">
            <a:avLst>
              <a:gd name="adj" fmla="val 28571"/>
            </a:avLst>
          </a:prstGeom>
          <a:solidFill>
            <a:srgbClr val="3A3956"/>
          </a:solidFill>
          <a:ln w="12700">
            <a:solidFill>
              <a:srgbClr val="3A3956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269480" y="5074920"/>
            <a:ext cx="1259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666378" y="5074920"/>
            <a:ext cx="1259738" cy="384048"/>
          </a:xfrm>
          <a:prstGeom prst="roundRect">
            <a:avLst>
              <a:gd name="adj" fmla="val 28571"/>
            </a:avLst>
          </a:prstGeom>
          <a:solidFill>
            <a:srgbClr val="3A3956"/>
          </a:solidFill>
          <a:ln w="12700">
            <a:solidFill>
              <a:srgbClr val="3A395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666378" y="5074920"/>
            <a:ext cx="1259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10063277" y="5074920"/>
            <a:ext cx="1259738" cy="384048"/>
          </a:xfrm>
          <a:prstGeom prst="roundRect">
            <a:avLst>
              <a:gd name="adj" fmla="val 28571"/>
            </a:avLst>
          </a:prstGeom>
          <a:solidFill>
            <a:srgbClr val="3A3956"/>
          </a:solidFill>
          <a:ln w="12700">
            <a:solidFill>
              <a:srgbClr val="3A3956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0063277" y="5074920"/>
            <a:ext cx="1259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7269480" y="553212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github.com/llm4s/szork</a:t>
            </a:r>
            <a:endParaRPr lang="en-US" sz="125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THE OPEN-SOURCE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worked, what failed, 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343400"/>
          </a:xfrm>
          <a:prstGeom prst="roundRect">
            <a:avLst>
              <a:gd name="adj" fmla="val 3121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59536" y="278892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69748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over strings: whole classes of bugs gone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59536" y="356616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347472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Result[T] everywhere instead of exceptions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59536" y="434340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425196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starter kit: setup from 20 minutes to 60 seconds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59536" y="512064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502920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public: weekly live coding and GSoC mentoring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38218" y="1600200"/>
            <a:ext cx="3515258" cy="4343400"/>
          </a:xfrm>
          <a:prstGeom prst="roundRect">
            <a:avLst>
              <a:gd name="adj" fmla="val 3121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49114" y="2788920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86858" y="269748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84k-line core artifact: every user got everything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649114" y="3566160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86858" y="347472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JDBC drivers and parsers leaking onto users' classpaths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649114" y="4343400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86858" y="425196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 error" for every failure, early on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4649114" y="5120640"/>
            <a:ext cx="109728" cy="109728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86858" y="502920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artifact names, and one accidentally mis-published version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127797" y="1600200"/>
            <a:ext cx="3515258" cy="4343400"/>
          </a:xfrm>
          <a:prstGeom prst="roundRect">
            <a:avLst>
              <a:gd name="adj" fmla="val 3121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8438693" y="278892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676437" y="269748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 small spine, let the edges move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8438693" y="356616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676437" y="347472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boundaries follow the dependency graph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8438693" y="434340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676437" y="425196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maturity honestly: Frozen, Beta, Experimental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8438693" y="5120640"/>
            <a:ext cx="109728" cy="109728"/>
          </a:xfrm>
          <a:prstGeom prst="ellipse">
            <a:avLst/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676437" y="502920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 to scope: 1.0 targets Scala 3 only</a:t>
            </a:r>
            <a:endParaRPr lang="en-US" sz="1500" dirty="0"/>
          </a:p>
        </p:txBody>
      </p:sp>
      <p:pic>
        <p:nvPicPr>
          <p:cNvPr id="40" name="Image 3" descr="/home/claude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1.0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1.0 promises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at 1.0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binary compatible across 1.x. Deprecate before removing.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291840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llm4s-core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712464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712464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llm4s-agent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33088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133088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llm4s-observability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553712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553712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compatible clients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974336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24233D"/>
          </a:solidFill>
          <a:ln w="12700">
            <a:solidFill>
              <a:srgbClr val="242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974336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Gemini, Ollama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8218" y="160020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8258" y="187452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658258" y="2423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now, still hardening. Migration notes ship with every change.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58258" y="3291840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1138" y="3291840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vector stores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58258" y="3712464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1138" y="3712464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(+ Postgres)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58258" y="4133088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1138" y="4133088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58258" y="4553712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1138" y="4553712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media types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58258" y="4974336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1138" y="4974336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providers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27797" y="160020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47837" y="187452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447837" y="2423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and evolving. Expect the API to change.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47837" y="3291840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30717" y="3291840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47837" y="3712464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30717" y="3712464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+ processing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47837" y="4133088"/>
            <a:ext cx="287517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30717" y="4133088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669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v0.4.1 is released, and the module split is in progress on main. Binary compatibility is enforced with MiMa checks.</a:t>
            </a:r>
            <a:endParaRPr lang="en-US" sz="1400" dirty="0"/>
          </a:p>
        </p:txBody>
      </p:sp>
      <p:pic>
        <p:nvPicPr>
          <p:cNvPr id="40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 to 1.0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24328"/>
            <a:ext cx="164592" cy="164592"/>
          </a:xfrm>
          <a:prstGeom prst="ellipse">
            <a:avLst/>
          </a:prstGeom>
          <a:solidFill>
            <a:srgbClr val="FF6A5C"/>
          </a:solidFill>
          <a:ln w="12700">
            <a:solidFill>
              <a:srgbClr val="FF6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514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facade and Kotlin coroutine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64408"/>
            <a:ext cx="164592" cy="164592"/>
          </a:xfrm>
          <a:prstGeom prst="ellipse">
            <a:avLst/>
          </a:prstGeom>
          <a:solidFill>
            <a:srgbClr val="FF6A5C"/>
          </a:solidFill>
          <a:ln w="12700">
            <a:solidFill>
              <a:srgbClr val="FF6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154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starter, Maven and Gradle examples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904488"/>
            <a:ext cx="164592" cy="164592"/>
          </a:xfrm>
          <a:prstGeom prst="ellipse">
            <a:avLst/>
          </a:prstGeom>
          <a:solidFill>
            <a:srgbClr val="FF6A5C"/>
          </a:solidFill>
          <a:ln w="12700">
            <a:solidFill>
              <a:srgbClr val="FF6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3794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capability matrix and contract tests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544568"/>
            <a:ext cx="164592" cy="164592"/>
          </a:xfrm>
          <a:prstGeom prst="ellipse">
            <a:avLst/>
          </a:prstGeom>
          <a:solidFill>
            <a:srgbClr val="FF6A5C"/>
          </a:solidFill>
          <a:ln w="12700">
            <a:solidFill>
              <a:srgbClr val="FF6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434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model, benchmarks and release gates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5184648"/>
            <a:ext cx="164592" cy="164592"/>
          </a:xfrm>
          <a:prstGeom prst="ellipse">
            <a:avLst/>
          </a:prstGeom>
          <a:solidFill>
            <a:srgbClr val="FF6A5C"/>
          </a:solidFill>
          <a:ln w="12700">
            <a:solidFill>
              <a:srgbClr val="FF6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5074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reference applications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5242255" cy="4343400"/>
          </a:xfrm>
          <a:prstGeom prst="roundRect">
            <a:avLst>
              <a:gd name="adj" fmla="val 2526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82880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66" y="1971446"/>
            <a:ext cx="309067" cy="30906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406640" y="1828800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exploring: AI for hardware design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606040"/>
            <a:ext cx="4693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already powers hardware design through Chisel. We're exploring LLM4S agents for that workflow: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3383280"/>
            <a:ext cx="4693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Chisel and FIRRTL integration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agents that generate tests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space exploration for area, timing and power</a:t>
            </a:r>
            <a:endParaRPr lang="en-US" sz="1450" dirty="0"/>
          </a:p>
        </p:txBody>
      </p:sp>
      <p:pic>
        <p:nvPicPr>
          <p:cNvPr id="22" name="Image 1" descr="/home/claude/assets/qr_hardw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572000"/>
            <a:ext cx="1188720" cy="11887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046720" y="4572000"/>
            <a:ext cx="3322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proposal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roadmap on GitHub. Collaborators welcome.</a:t>
            </a:r>
            <a:endParaRPr lang="en-US" sz="1400" dirty="0"/>
          </a:p>
        </p:txBody>
      </p:sp>
      <p:pic>
        <p:nvPicPr>
          <p:cNvPr id="24" name="Image 2" descr="/home/claude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contribute, and how to join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contribute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0756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experienced engineers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4048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engineers and architects review, pair and mentor.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1993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03580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design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33649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ideas influence where a young framework goes.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66928" cy="566928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15942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9959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programs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4325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GSoC 2025 alumni project, with ideas for GSoC, LFX and European Summer of Code.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983480"/>
            <a:ext cx="566928" cy="566928"/>
          </a:xfrm>
          <a:prstGeom prst="ellipse">
            <a:avLst/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11954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49560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impact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325880" y="52852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portfolio work, conference talks and a rare Scala plus AI skill set.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629400" y="1554480"/>
            <a:ext cx="5013655" cy="4389120"/>
          </a:xfrm>
          <a:prstGeom prst="roundRect">
            <a:avLst>
              <a:gd name="adj" fmla="val 2500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949440" y="1783080"/>
            <a:ext cx="4373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join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233172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Dev Hour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949440" y="2624328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Sundays, 9am London. The community votes on features, then we mob-program, pair and ship.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320040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3493008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design discussions and help.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949440" y="406908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LLM4S at work?</a:t>
            </a:r>
            <a:endParaRPr lang="en-US" sz="1550" dirty="0"/>
          </a:p>
        </p:txBody>
      </p:sp>
      <p:sp>
        <p:nvSpPr>
          <p:cNvPr id="28" name="Text 22"/>
          <p:cNvSpPr txBox="1"/>
          <p:nvPr/>
        </p:nvSpPr>
        <p:spPr>
          <a:xfrm>
            <a:off x="6949440" y="4361688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the LLM4S Foundation to keep it maintained.</a:t>
            </a:r>
            <a:endParaRPr lang="en-US" sz="1300" dirty="0"/>
          </a:p>
        </p:txBody>
      </p:sp>
      <p:pic>
        <p:nvPicPr>
          <p:cNvPr id="29" name="Image 4" descr="/home/claude/assets/qr_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937760"/>
            <a:ext cx="777240" cy="7772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790688" y="4937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pic>
        <p:nvPicPr>
          <p:cNvPr id="31" name="Image 5" descr="/home/claude/assets/qr_disco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937760"/>
            <a:ext cx="777240" cy="7772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08008" y="4937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200" dirty="0"/>
          </a:p>
        </p:txBody>
      </p:sp>
      <p:pic>
        <p:nvPicPr>
          <p:cNvPr id="33" name="Image 6" descr="/home/claude/assets/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same open foundations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and Microsoft already meet in open source. Same runtime, same protocols, same home for code.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47436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0632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OpenJDK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runs on the JVM. Microsoft builds and contributes to OpenJDK.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205740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5144" y="233172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790" y="24743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65144" y="30632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3665144" y="34747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PROTOCOL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agents speak MCP; Microsoft and GitHub joined its Steering Committee (2025).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205740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07328" y="233172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74" y="2474366"/>
            <a:ext cx="309067" cy="30906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07328" y="30632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6507328" y="34747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BUILT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507328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is developed in public on GitHub, with MIT-licensed code anyone can use.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205740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49511" y="2331720"/>
            <a:ext cx="594360" cy="59436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158" y="2474366"/>
            <a:ext cx="309067" cy="30906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49511" y="30632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9349511" y="34747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349511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first-class LLM4S provider, on the same code path as every other model.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480060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22960" y="5052060"/>
            <a:ext cx="640080" cy="64008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5205679"/>
            <a:ext cx="332842" cy="33284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691640" y="4800600"/>
            <a:ext cx="9677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LLM4S side of the umbrella: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LLM4S Foundation, Google Summer of Code under the Scala Center, a 400+ person community, and independent health tracking on Linux Foundation LFX Insights.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llm4s.org; SiliconANGLE on MCP Steering Committee (May 2025); Microsoft OpenJDK</a:t>
            </a:r>
            <a:endParaRPr lang="en-US" sz="950" dirty="0"/>
          </a:p>
        </p:txBody>
      </p:sp>
      <p:pic>
        <p:nvPicPr>
          <p:cNvPr id="34" name="Image 5" descr="/home/claude/assets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AND SCALA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 already runs across Microsoft's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1368"/>
            <a:ext cx="585216" cy="585216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1941820"/>
            <a:ext cx="304312" cy="304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28216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inside Microsoft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756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Java team said its internal systems span Scala, Kotlin and Java (InfoQ, 2021).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715768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916936"/>
            <a:ext cx="585216" cy="585216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92" y="3057388"/>
            <a:ext cx="304312" cy="304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84378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SynapseML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19125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open-source ML library for Spark, published for Scala and pre-installed in Microsoft Fabric.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32504"/>
            <a:ext cx="585216" cy="585216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92" y="4172956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5935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on Azure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30682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 and Microsoft Fabric both support Scala for Spark workloads.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946904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148072"/>
            <a:ext cx="585216" cy="585216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92" y="5288524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50749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from LinkedIn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42239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was created at LinkedIn (Microsoft since 2016) in Scala and Java.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7452360" y="1600200"/>
            <a:ext cx="4190695" cy="4343400"/>
          </a:xfrm>
          <a:prstGeom prst="roundRect">
            <a:avLst>
              <a:gd name="adj" fmla="val 2618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0" y="17830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in the enterprise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0" y="2377440"/>
            <a:ext cx="3550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0" y="2688336"/>
            <a:ext cx="3550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big-data engine, written in Scala. Databricks stewards it and sits on the Scala Center board.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0" y="3310128"/>
            <a:ext cx="3550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Akka and Kafka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0" y="3621024"/>
            <a:ext cx="3550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JVM infrastructure for concurrency and streaming, built in Scala and Java.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0" y="4242816"/>
            <a:ext cx="3550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and retail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772400" y="4553712"/>
            <a:ext cx="3550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runs data platforms and back-end systems across large enterprises.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772400" y="5120640"/>
            <a:ext cx="3550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brings type-safe agents to where this Scala already runs.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InfoQ (2021); Apache Spark / Databricks; Scala Center advisory board</a:t>
            </a:r>
            <a:endParaRPr lang="en-US" sz="950" dirty="0"/>
          </a:p>
        </p:txBody>
      </p:sp>
      <p:pic>
        <p:nvPicPr>
          <p:cNvPr id="34" name="Image 4" descr="/home/claude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AND THE JVM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invests in Java, and runs on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49040" cy="4343400"/>
          </a:xfrm>
          <a:prstGeom prst="roundRect">
            <a:avLst>
              <a:gd name="adj" fmla="val 2927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JVMs in production at Microsoft, running hundreds of internal systems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use more Java than one can imagine.”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 Nadella, 2021 (~5 years ago; figure not updated since)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for Java Developers blog (2021); ADTmag, InfoQ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600200"/>
            <a:ext cx="7071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investment in Java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57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057400"/>
            <a:ext cx="6293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OpenJDK; acquired Java performance firm jClarity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606040"/>
            <a:ext cx="6293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Microsoft Build of OpenJDK, a free LTS distribution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154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154680"/>
            <a:ext cx="6293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member of the Eclipse Foundation and Eclipse Adoptium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703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703320"/>
            <a:ext cx="6293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the Java Community Process, which guides Java's future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0" y="4389120"/>
            <a:ext cx="7071055" cy="1554480"/>
          </a:xfrm>
          <a:prstGeom prst="roundRect">
            <a:avLst>
              <a:gd name="adj" fmla="val 7059"/>
            </a:avLst>
          </a:prstGeom>
          <a:solidFill>
            <a:srgbClr val="FCEBE9"/>
          </a:solidFill>
          <a:ln w="12700">
            <a:solidFill>
              <a:srgbClr val="FCEB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4498848"/>
            <a:ext cx="6522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 for every JVM team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84632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teams use LLM4S today. Artifacts are on Maven Central, so Maven and Gradle builds can pull them in. A Java facade, Kotlin coroutine API and Spring Boot starter are on the 1.0 road, so Java and Kotlin teams get a first-class path too.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Microsoft blogs (2019, 2021); Eclipse Foundation; JCP.org. Ages relative to 2026</a:t>
            </a:r>
            <a:endParaRPr lang="en-US" sz="950" dirty="0"/>
          </a:p>
        </p:txBody>
      </p:sp>
      <p:pic>
        <p:nvPicPr>
          <p:cNvPr id="23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LLM4S in a week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runs all week. Here's a realistic arc from empty folder to a deployed AI 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14057" cy="3703320"/>
          </a:xfrm>
          <a:prstGeom prst="roundRect">
            <a:avLst>
              <a:gd name="adj" fmla="val 5448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41448"/>
            <a:ext cx="15568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+ first agent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264408"/>
            <a:ext cx="1648297" cy="658368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264408"/>
            <a:ext cx="14288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sbt new llm4s/llm4s.g8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69080"/>
            <a:ext cx="15568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scaffolds a working Scala project. Point LLM_MODEL at Azure OpenAI, run your first agent.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18729" y="1783080"/>
            <a:ext cx="2014057" cy="3703320"/>
          </a:xfrm>
          <a:prstGeom prst="roundRect">
            <a:avLst>
              <a:gd name="adj" fmla="val 5448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47329" y="2039112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47329" y="2441448"/>
            <a:ext cx="15568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tools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001609" y="3264408"/>
            <a:ext cx="1648297" cy="658368"/>
          </a:xfrm>
          <a:prstGeom prst="roundRect">
            <a:avLst>
              <a:gd name="adj" fmla="val 16667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11337" y="3264408"/>
            <a:ext cx="14288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ToolRegistry(Seq(myTool))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047329" y="4069080"/>
            <a:ext cx="15568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own functions as tools, or connect an MCP server so the agent can act on real systems.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88819" y="1783080"/>
            <a:ext cx="2014057" cy="3703320"/>
          </a:xfrm>
          <a:prstGeom prst="roundRect">
            <a:avLst>
              <a:gd name="adj" fmla="val 5448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17419" y="2039112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17419" y="2441448"/>
            <a:ext cx="15568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it in your data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271699" y="3264408"/>
            <a:ext cx="1648297" cy="658368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81427" y="3264408"/>
            <a:ext cx="14288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in a Box + pgvector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317419" y="4069080"/>
            <a:ext cx="15568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retrieval over your docs, stored in Azure Database for PostgreSQL. Answers cite real sources.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58908" y="1783080"/>
            <a:ext cx="2014057" cy="3703320"/>
          </a:xfrm>
          <a:prstGeom prst="roundRect">
            <a:avLst>
              <a:gd name="adj" fmla="val 5448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7508" y="2039112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87508" y="2441448"/>
            <a:ext cx="15568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safe to show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541788" y="3264408"/>
            <a:ext cx="1648297" cy="658368"/>
          </a:xfrm>
          <a:prstGeom prst="roundRect">
            <a:avLst>
              <a:gd name="adj" fmla="val 16667"/>
            </a:avLst>
          </a:prstGeom>
          <a:solidFill>
            <a:srgbClr val="1D1C2E"/>
          </a:solidFill>
          <a:ln w="12700">
            <a:solidFill>
              <a:srgbClr val="1D1C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51516" y="3264408"/>
            <a:ext cx="14288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+ output guardrails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587508" y="4069080"/>
            <a:ext cx="15568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length, profanity and prompt-injection checks, PII masking, and turn on tracing to see every step.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28998" y="1783080"/>
            <a:ext cx="2014057" cy="3703320"/>
          </a:xfrm>
          <a:prstGeom prst="roundRect">
            <a:avLst>
              <a:gd name="adj" fmla="val 5448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57598" y="2039112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57598" y="2441448"/>
            <a:ext cx="15568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+ demo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811878" y="3264408"/>
            <a:ext cx="1648297" cy="658368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21606" y="3264408"/>
            <a:ext cx="14288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+ AKS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857598" y="4069080"/>
            <a:ext cx="15568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service in a container, run it on AKS or Container Apps, and demo it with the trace on screen.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and modules from llm4s.org docs; Azure services from Microsoft Learn (2026)</a:t>
            </a:r>
            <a:endParaRPr lang="en-US" sz="950" dirty="0"/>
          </a:p>
        </p:txBody>
      </p:sp>
      <p:pic>
        <p:nvPicPr>
          <p:cNvPr id="36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could build with LLM4S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15142A"/>
          </a:solidFill>
          <a:ln w="12700">
            <a:solidFill>
              <a:srgbClr val="1514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502920" cy="5029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495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828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triage agent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468880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connected to GitHub over MCP that reads new issues, labels them and drafts a first response.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22783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tools · guardrails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60020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4250" y="1828800"/>
            <a:ext cx="502920" cy="5029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951" y="19495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34330" y="1828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 Q&amp;A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4594250" y="2468880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over team wikis and runbooks, stored in Azure Database for PostgreSQL with pgvector.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94250" y="322783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pgvector · Azure OpenAI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83829" y="1828800"/>
            <a:ext cx="502920" cy="5029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530" y="194950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23909" y="1828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assistant for JVM services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8383829" y="2468880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agent that checks health endpoints and hands off to specialist agents for each system.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83829" y="322783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handoffs · tracing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114800"/>
            <a:ext cx="502920" cy="5029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23550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44752" y="4114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support bot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804672" y="4754880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guardrails, PII masking and full traces, ready for real users.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" y="551383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observability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38218" y="388620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94250" y="4114800"/>
            <a:ext cx="502920" cy="5029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951" y="4235501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34330" y="4114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Szork for your team</a:t>
            </a:r>
            <a:endParaRPr lang="en-US" sz="1650" dirty="0"/>
          </a:p>
        </p:txBody>
      </p:sp>
      <p:sp>
        <p:nvSpPr>
          <p:cNvPr id="32" name="Text 25"/>
          <p:cNvSpPr txBox="1"/>
          <p:nvPr/>
        </p:nvSpPr>
        <p:spPr>
          <a:xfrm>
            <a:off x="4594250" y="4754880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voice-driven onboarding adventure that teaches new hires your systems.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594250" y="551383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· images · agents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27797" y="388620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83829" y="4114800"/>
            <a:ext cx="502920" cy="502920"/>
          </a:xfrm>
          <a:prstGeom prst="ellipse">
            <a:avLst/>
          </a:prstGeom>
          <a:solidFill>
            <a:srgbClr val="D72F23"/>
          </a:solidFill>
          <a:ln w="12700">
            <a:solidFill>
              <a:srgbClr val="D72F23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530" y="4235501"/>
            <a:ext cx="261518" cy="26151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23909" y="411480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on Azure</a:t>
            </a:r>
            <a:endParaRPr lang="en-US" sz="1650" dirty="0"/>
          </a:p>
        </p:txBody>
      </p:sp>
      <p:sp>
        <p:nvSpPr>
          <p:cNvPr id="38" name="Text 30"/>
          <p:cNvSpPr txBox="1"/>
          <p:nvPr/>
        </p:nvSpPr>
        <p:spPr>
          <a:xfrm>
            <a:off x="8383829" y="4754880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your LLM4S service as a container and run it on AKS or Azure Container Apps.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383829" y="551383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15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LLM4S capabilities (llm4s.org) and Azure services (Microsoft Learn)</a:t>
            </a:r>
            <a:endParaRPr lang="en-US" sz="950" dirty="0"/>
          </a:p>
        </p:txBody>
      </p:sp>
      <p:pic>
        <p:nvPicPr>
          <p:cNvPr id="41" name="Image 6" descr="/home/claude/assets/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5855" y="6199632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cool stuff, and make it work in production.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488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AI is designed in, not tested in at the end.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063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beat ad-hoc scripts once you have real users.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977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Result values make LLM apps predictable.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892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brings this to the JVM you already run.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01000" y="640080"/>
            <a:ext cx="3642055" cy="4114800"/>
          </a:xfrm>
          <a:prstGeom prst="roundRect">
            <a:avLst>
              <a:gd name="adj" fmla="val 301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home/claude/assets/linked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388" y="777240"/>
            <a:ext cx="3383280" cy="3383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001000" y="42062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 LinkedIn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892040"/>
            <a:ext cx="3642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kannupriya@llm4s.org  ·  rory@llm4s.org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kannupriyakalra@gmail.com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llm4s.org  ·  github.com/llm4s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us on GitHub, then come build with us.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 2026  ·  Silicon Valley Campus, Mountain View  ·  September 16,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06728" y="30175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assets/qr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208" y="324612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06728" y="5120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06728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github.com/llm4s/llm4s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15688" y="30175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home/claude/assets/qr_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8" y="3246120"/>
            <a:ext cx="1737360" cy="1737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15688" y="5120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15688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llm4s.org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24648" y="30175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/home/claude/assets/qr_disco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128" y="3246120"/>
            <a:ext cx="1737360" cy="17373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24648" y="5120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924648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community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LLMs: Open Source AI for the JVM</dc:title>
  <dc:subject>PptxGenJS Presentation</dc:subject>
  <dc:creator>Kannupriya Kalra</dc:creator>
  <cp:lastModifiedBy>Kannupriya Kalra</cp:lastModifiedBy>
  <cp:revision>1</cp:revision>
  <dcterms:created xsi:type="dcterms:W3CDTF">2026-09-16T07:49:15Z</dcterms:created>
  <dcterms:modified xsi:type="dcterms:W3CDTF">2026-09-16T07:49:15Z</dcterms:modified>
</cp:coreProperties>
</file>