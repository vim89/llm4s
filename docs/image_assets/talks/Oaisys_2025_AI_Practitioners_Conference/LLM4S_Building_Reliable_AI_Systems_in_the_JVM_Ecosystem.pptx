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Bold" charset="1" panose="00000800000000000000"/>
      <p:regular r:id="rId23"/>
    </p:embeddedFont>
    <p:embeddedFont>
      <p:font typeface="Comic Sans Bold" charset="1" panose="03000902030302020204"/>
      <p:regular r:id="rId24"/>
    </p:embeddedFont>
    <p:embeddedFont>
      <p:font typeface="DM Sans Bold" charset="1" panose="00000000000000000000"/>
      <p:regular r:id="rId25"/>
    </p:embeddedFont>
    <p:embeddedFont>
      <p:font typeface="Comic Sans" charset="1" panose="03000702030302020204"/>
      <p:regular r:id="rId27"/>
    </p:embeddedFont>
    <p:embeddedFont>
      <p:font typeface="Canva Sans Bold" charset="1" panose="020B0803030501040103"/>
      <p:regular r:id="rId28"/>
    </p:embeddedFont>
    <p:embeddedFont>
      <p:font typeface="Canva Sans Medium" charset="1" panose="020B0603030501040103"/>
      <p:regular r:id="rId29"/>
    </p:embeddedFont>
    <p:embeddedFont>
      <p:font typeface="Canva Sans" charset="1" panose="020B0503030501040103"/>
      <p:regular r:id="rId35"/>
    </p:embeddedFont>
    <p:embeddedFont>
      <p:font typeface="Canva Sans Medium Italics" charset="1" panose="020B0603030501040103"/>
      <p:regular r:id="rId42"/>
    </p:embeddedFont>
    <p:embeddedFont>
      <p:font typeface="Cooper Hewitt Bold" charset="1" panose="00000000000000000000"/>
      <p:regular r:id="rId44"/>
    </p:embeddedFont>
    <p:embeddedFont>
      <p:font typeface="Agbalumo" charset="1" panose="00000000000000000000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14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5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jpeg" Type="http://schemas.openxmlformats.org/officeDocument/2006/relationships/image"/><Relationship Id="rId7" Target="../media/image7.png" Type="http://schemas.openxmlformats.org/officeDocument/2006/relationships/image"/><Relationship Id="rId8" Target="https://luma.com/calendar/cal-Zd9BLb5jbZewxLA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5985" y="-448553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401323" y="7736296"/>
            <a:ext cx="5347340" cy="1089942"/>
          </a:xfrm>
          <a:custGeom>
            <a:avLst/>
            <a:gdLst/>
            <a:ahLst/>
            <a:cxnLst/>
            <a:rect r="r" b="b" t="t" l="l"/>
            <a:pathLst>
              <a:path h="1089942" w="5347340">
                <a:moveTo>
                  <a:pt x="0" y="0"/>
                </a:moveTo>
                <a:lnTo>
                  <a:pt x="5347340" y="0"/>
                </a:lnTo>
                <a:lnTo>
                  <a:pt x="5347340" y="1089942"/>
                </a:lnTo>
                <a:lnTo>
                  <a:pt x="0" y="10899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63952" y="7389034"/>
            <a:ext cx="2085448" cy="1784464"/>
          </a:xfrm>
          <a:custGeom>
            <a:avLst/>
            <a:gdLst/>
            <a:ahLst/>
            <a:cxnLst/>
            <a:rect r="r" b="b" t="t" l="l"/>
            <a:pathLst>
              <a:path h="1784464" w="2085448">
                <a:moveTo>
                  <a:pt x="0" y="0"/>
                </a:moveTo>
                <a:lnTo>
                  <a:pt x="2085447" y="0"/>
                </a:lnTo>
                <a:lnTo>
                  <a:pt x="2085447" y="1784465"/>
                </a:lnTo>
                <a:lnTo>
                  <a:pt x="0" y="17844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0622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6951" y="1773029"/>
            <a:ext cx="12379394" cy="3015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3"/>
              </a:lnSpc>
            </a:pPr>
            <a:r>
              <a:rPr lang="en-US" sz="8416" b="true">
                <a:solidFill>
                  <a:srgbClr val="343434"/>
                </a:solidFill>
                <a:latin typeface="Poppins Bold"/>
                <a:ea typeface="Poppins Bold"/>
                <a:cs typeface="Poppins Bold"/>
                <a:sym typeface="Poppins Bold"/>
              </a:rPr>
              <a:t>LLM4S: BUILD RELIABLE AI SYSTEMS IN SCALA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6285" y="5817435"/>
            <a:ext cx="9087667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343434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Presented by Kannupriya Kalra &amp; Shubham Vishwakarma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6951" y="4843653"/>
            <a:ext cx="10968980" cy="67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17"/>
              </a:lnSpc>
              <a:spcBef>
                <a:spcPct val="0"/>
              </a:spcBef>
            </a:pPr>
            <a:r>
              <a:rPr lang="en-US" b="true" sz="4199" spc="-23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OAISYS </a:t>
            </a:r>
            <a:r>
              <a:rPr lang="en-US" b="true" sz="4199" spc="-230">
                <a:solidFill>
                  <a:srgbClr val="343434"/>
                </a:solidFill>
                <a:latin typeface="DM Sans Bold"/>
                <a:ea typeface="DM Sans Bold"/>
                <a:cs typeface="DM Sans Bold"/>
                <a:sym typeface="DM Sans Bold"/>
              </a:rPr>
              <a:t>AI  PRACTITIONERS CONFERENCE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4285F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0860" y="1281480"/>
            <a:ext cx="5262488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Why this matters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0860" y="2702612"/>
            <a:ext cx="10524977" cy="558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74"/>
              </a:lnSpc>
            </a:pPr>
            <a:r>
              <a:rPr lang="en-US" b="true" sz="3167" spc="-174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problem:</a:t>
            </a:r>
          </a:p>
          <a:p>
            <a:pPr algn="just" marL="683790" indent="-341895" lvl="1">
              <a:lnSpc>
                <a:spcPts val="5574"/>
              </a:lnSpc>
              <a:buFont typeface="Arial"/>
              <a:buChar char="•"/>
            </a:pPr>
            <a:r>
              <a:rPr lang="en-US" b="true" sz="3167" spc="-174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Most LLM frameworks force you to choose </a:t>
            </a:r>
          </a:p>
          <a:p>
            <a:pPr algn="just" marL="683790" indent="-341895" lvl="1">
              <a:lnSpc>
                <a:spcPts val="5574"/>
              </a:lnSpc>
              <a:buFont typeface="Arial"/>
              <a:buChar char="•"/>
            </a:pPr>
            <a:r>
              <a:rPr lang="en-US" b="true" sz="3167" spc="-174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Fast iteration OR type safety</a:t>
            </a:r>
          </a:p>
          <a:p>
            <a:pPr algn="just" marL="683790" indent="-341895" lvl="1">
              <a:lnSpc>
                <a:spcPts val="5574"/>
              </a:lnSpc>
              <a:buFont typeface="Arial"/>
              <a:buChar char="•"/>
            </a:pPr>
            <a:r>
              <a:rPr lang="en-US" b="true" sz="3167" spc="-174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Production readiness OR developer velocity</a:t>
            </a:r>
          </a:p>
          <a:p>
            <a:pPr algn="just">
              <a:lnSpc>
                <a:spcPts val="5574"/>
              </a:lnSpc>
            </a:pPr>
          </a:p>
          <a:p>
            <a:pPr algn="just">
              <a:lnSpc>
                <a:spcPts val="5574"/>
              </a:lnSpc>
            </a:pPr>
            <a:r>
              <a:rPr lang="en-US" b="true" sz="3167" spc="-174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</a:t>
            </a:r>
            <a:r>
              <a:rPr lang="en-US" b="true" sz="3167" spc="-174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hat if </a:t>
            </a:r>
            <a:r>
              <a:rPr lang="en-US" b="true" sz="3167" spc="-174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 didn’t have to choose?</a:t>
            </a:r>
          </a:p>
          <a:p>
            <a:pPr algn="just" marL="683790" indent="-341895" lvl="1">
              <a:lnSpc>
                <a:spcPts val="5574"/>
              </a:lnSpc>
              <a:buFont typeface="Arial"/>
              <a:buChar char="•"/>
            </a:pPr>
            <a:r>
              <a:rPr lang="en-US" b="true" sz="3167" spc="-174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LLM4S brings type-safe, functional AI development to the JVM. Reliability is built into </a:t>
            </a:r>
            <a:r>
              <a:rPr lang="en-US" b="true" sz="3167" spc="-174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 type system.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EA433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213931"/>
            <a:ext cx="8874173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AI hype vs Reality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20762"/>
            <a:ext cx="14130180" cy="670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56"/>
              </a:lnSpc>
            </a:pPr>
            <a:r>
              <a:rPr lang="en-US" sz="3070" spc="-168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data doesn’t lie:</a:t>
            </a:r>
          </a:p>
          <a:p>
            <a:pPr algn="l" marL="662931" indent="-331465" lvl="1">
              <a:lnSpc>
                <a:spcPts val="5956"/>
              </a:lnSpc>
              <a:buFont typeface="Arial"/>
              <a:buChar char="•"/>
            </a:pPr>
            <a:r>
              <a:rPr lang="en-US" b="true" sz="3070" spc="-16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MIT report: 95% of generative </a:t>
            </a:r>
            <a:r>
              <a:rPr lang="en-US" b="true" sz="3070" spc="-16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AI pilots at companies are failing </a:t>
            </a:r>
          </a:p>
          <a:p>
            <a:pPr algn="l" marL="662931" indent="-331465" lvl="1">
              <a:lnSpc>
                <a:spcPts val="5956"/>
              </a:lnSpc>
              <a:buFont typeface="Arial"/>
              <a:buChar char="•"/>
            </a:pPr>
            <a:r>
              <a:rPr lang="en-US" b="true" sz="3070" spc="-16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88% of AI pilots fail to reach production</a:t>
            </a:r>
          </a:p>
          <a:p>
            <a:pPr algn="l" marL="662931" indent="-331465" lvl="1">
              <a:lnSpc>
                <a:spcPts val="5956"/>
              </a:lnSpc>
              <a:buFont typeface="Arial"/>
              <a:buChar char="•"/>
            </a:pPr>
            <a:r>
              <a:rPr lang="en-US" b="true" sz="3070" spc="-16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Steep drop: 80% investigated → 50% piloted → 5% successfully implemented</a:t>
            </a:r>
          </a:p>
          <a:p>
            <a:pPr algn="l">
              <a:lnSpc>
                <a:spcPts val="5956"/>
              </a:lnSpc>
            </a:pPr>
          </a:p>
          <a:p>
            <a:pPr algn="l">
              <a:lnSpc>
                <a:spcPts val="5956"/>
              </a:lnSpc>
            </a:pPr>
            <a:r>
              <a:rPr lang="en-US" sz="3070" spc="-168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pilot</a:t>
            </a:r>
            <a:r>
              <a:rPr lang="en-US" b="true" sz="3070" spc="-168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</a:t>
            </a:r>
            <a:r>
              <a:rPr lang="en-US" sz="3070" spc="-168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fail:</a:t>
            </a:r>
          </a:p>
          <a:p>
            <a:pPr algn="l" marL="662931" indent="-331465" lvl="1">
              <a:lnSpc>
                <a:spcPts val="5956"/>
              </a:lnSpc>
              <a:buFont typeface="Arial"/>
              <a:buChar char="•"/>
            </a:pPr>
            <a:r>
              <a:rPr lang="en-US" b="true" sz="3070" spc="-16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Hallucination and lack of grounding Scaling and latency issues</a:t>
            </a:r>
          </a:p>
          <a:p>
            <a:pPr algn="l" marL="662931" indent="-331465" lvl="1">
              <a:lnSpc>
                <a:spcPts val="5956"/>
              </a:lnSpc>
              <a:buFont typeface="Arial"/>
              <a:buChar char="•"/>
            </a:pPr>
            <a:r>
              <a:rPr lang="en-US" b="true" sz="3070" spc="-16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Management gaps: observabili</a:t>
            </a:r>
            <a:r>
              <a:rPr lang="en-US" b="true" sz="3070" spc="-16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ty, measurability, feedback cycles</a:t>
            </a:r>
          </a:p>
          <a:p>
            <a:pPr algn="l" marL="662931" indent="-331465" lvl="1">
              <a:lnSpc>
                <a:spcPts val="5956"/>
              </a:lnSpc>
              <a:buFont typeface="Arial"/>
              <a:buChar char="•"/>
            </a:pPr>
            <a:r>
              <a:rPr lang="en-US" b="true" sz="3070" spc="-16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The shift: From "cool prototypes" → to "critical systems"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FBBC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187364" y="5867270"/>
            <a:ext cx="4686369" cy="4078635"/>
          </a:xfrm>
          <a:custGeom>
            <a:avLst/>
            <a:gdLst/>
            <a:ahLst/>
            <a:cxnLst/>
            <a:rect r="r" b="b" t="t" l="l"/>
            <a:pathLst>
              <a:path h="4078635" w="4686369">
                <a:moveTo>
                  <a:pt x="0" y="0"/>
                </a:moveTo>
                <a:lnTo>
                  <a:pt x="4686369" y="0"/>
                </a:lnTo>
                <a:lnTo>
                  <a:pt x="4686369" y="4078635"/>
                </a:lnTo>
                <a:lnTo>
                  <a:pt x="0" y="4078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41484" y="1983107"/>
            <a:ext cx="15543787" cy="7596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3137" spc="-17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Mission:  Type safety, functional programming, and JVM reliability for AI development</a:t>
            </a:r>
          </a:p>
          <a:p>
            <a:pPr algn="l">
              <a:lnSpc>
                <a:spcPts val="5522"/>
              </a:lnSpc>
            </a:pPr>
            <a:r>
              <a:rPr lang="en-US" sz="3137" spc="-17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framework for building LLM applications in Scala. Works directly with your existing systems.</a:t>
            </a:r>
          </a:p>
          <a:p>
            <a:pPr algn="l">
              <a:lnSpc>
                <a:spcPts val="5522"/>
              </a:lnSpc>
            </a:pPr>
            <a:r>
              <a:rPr lang="en-US" sz="3137" spc="-17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reliable AI system = </a:t>
            </a:r>
            <a:r>
              <a:rPr lang="en-US" sz="3137" spc="-17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LLM</a:t>
            </a:r>
            <a:r>
              <a:rPr lang="en-US" sz="3137" spc="-17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+ Context + Data + Tools + Observability + Governance + Feedback Cycles</a:t>
            </a:r>
          </a:p>
          <a:p>
            <a:pPr algn="l" marL="677418" indent="-338709" lvl="1">
              <a:lnSpc>
                <a:spcPts val="5522"/>
              </a:lnSpc>
              <a:buFont typeface="Arial"/>
              <a:buChar char="•"/>
            </a:pPr>
            <a:r>
              <a:rPr lang="en-US" b="true" sz="3137" spc="-17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Context grounds responses</a:t>
            </a:r>
          </a:p>
          <a:p>
            <a:pPr algn="l" marL="677418" indent="-338709" lvl="1">
              <a:lnSpc>
                <a:spcPts val="5522"/>
              </a:lnSpc>
              <a:buFont typeface="Arial"/>
              <a:buChar char="•"/>
            </a:pPr>
            <a:r>
              <a:rPr lang="en-US" b="true" sz="3137" spc="-17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Data ensures truth</a:t>
            </a:r>
          </a:p>
          <a:p>
            <a:pPr algn="l" marL="677418" indent="-338709" lvl="1">
              <a:lnSpc>
                <a:spcPts val="5522"/>
              </a:lnSpc>
              <a:buFont typeface="Arial"/>
              <a:buChar char="•"/>
            </a:pPr>
            <a:r>
              <a:rPr lang="en-US" b="true" sz="3137" spc="-17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Tools enable action</a:t>
            </a:r>
          </a:p>
          <a:p>
            <a:pPr algn="l" marL="677418" indent="-338709" lvl="1">
              <a:lnSpc>
                <a:spcPts val="5522"/>
              </a:lnSpc>
              <a:buFont typeface="Arial"/>
              <a:buChar char="•"/>
            </a:pPr>
            <a:r>
              <a:rPr lang="en-US" b="true" sz="3137" spc="-17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Observability tracks behavior</a:t>
            </a:r>
          </a:p>
          <a:p>
            <a:pPr algn="l" marL="677418" indent="-338709" lvl="1">
              <a:lnSpc>
                <a:spcPts val="5522"/>
              </a:lnSpc>
              <a:buFont typeface="Arial"/>
              <a:buChar char="•"/>
            </a:pPr>
            <a:r>
              <a:rPr lang="en-US" b="true" sz="3137" spc="-17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Governance builds trust</a:t>
            </a:r>
          </a:p>
          <a:p>
            <a:pPr algn="l" marL="677418" indent="-338709" lvl="1">
              <a:lnSpc>
                <a:spcPts val="5522"/>
              </a:lnSpc>
              <a:buFont typeface="Arial"/>
              <a:buChar char="•"/>
            </a:pPr>
            <a:r>
              <a:rPr lang="en-US" b="true" sz="3137" spc="-17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Feedback cycles allow optimization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6875" y="923925"/>
            <a:ext cx="5729654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What is LLM4S?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34A8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21374" y="1046692"/>
            <a:ext cx="9884912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5 Pillars of Reliability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8783" y="2251919"/>
            <a:ext cx="14158904" cy="681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LLM4S design philosophy:</a:t>
            </a: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1. Composable modules - RAG, agents, tracing, tools</a:t>
            </a: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2. Type safety - Catch prompt and context errors at compile time</a:t>
            </a: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3. Tracing and observability - Understand, debug, and optimize</a:t>
            </a: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4. Multi-provider support - OpenAI, Anthropic, Gemini, Ollama, Azure</a:t>
            </a: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5. Scalability - Plug-and-play architectures with consistent APIs</a:t>
            </a:r>
          </a:p>
          <a:p>
            <a:pPr algn="l">
              <a:lnSpc>
                <a:spcPts val="5459"/>
              </a:lnSpc>
            </a:pP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Reliability isn’t post-facto testing —&gt; it’s design.</a:t>
            </a:r>
          </a:p>
          <a:p>
            <a:pPr algn="l">
              <a:lnSpc>
                <a:spcPts val="5459"/>
              </a:lnSpc>
            </a:pP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Building AI like software: structured, measurable, and predictable.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1061" y="1045107"/>
            <a:ext cx="9884912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Core Capabilities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6696" y="2248749"/>
            <a:ext cx="14158904" cy="6812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Multi-provider support</a:t>
            </a:r>
          </a:p>
          <a:p>
            <a:pPr algn="l" marL="701674" indent="-350837" lvl="1">
              <a:lnSpc>
                <a:spcPts val="5459"/>
              </a:lnSpc>
              <a:buFont typeface="Arial"/>
              <a:buChar char="•"/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OpenAI, Anthropic, Azure, Ollama, OpenRouter - One interface, zero lock-in</a:t>
            </a: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 safety first</a:t>
            </a:r>
          </a:p>
          <a:p>
            <a:pPr algn="l" marL="701674" indent="-350837" lvl="1">
              <a:lnSpc>
                <a:spcPts val="5459"/>
              </a:lnSpc>
              <a:buFont typeface="Arial"/>
              <a:buChar char="•"/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Compile-time error checking - No runtime surprises</a:t>
            </a: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Functional error handling</a:t>
            </a:r>
          </a:p>
          <a:p>
            <a:pPr algn="l" marL="701674" indent="-350837" lvl="1">
              <a:lnSpc>
                <a:spcPts val="5459"/>
              </a:lnSpc>
              <a:buFont typeface="Arial"/>
              <a:buChar char="•"/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Either-based composition - No exceptions thrown</a:t>
            </a: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Agent framework</a:t>
            </a:r>
          </a:p>
          <a:p>
            <a:pPr algn="l" marL="701674" indent="-350837" lvl="1">
              <a:lnSpc>
                <a:spcPts val="5459"/>
              </a:lnSpc>
              <a:buFont typeface="Arial"/>
              <a:buChar char="•"/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Single and multi-agent workflows - Tool calling with auto-generation</a:t>
            </a:r>
          </a:p>
          <a:p>
            <a:pPr algn="l">
              <a:lnSpc>
                <a:spcPts val="5459"/>
              </a:lnSpc>
            </a:pPr>
            <a:r>
              <a:rPr lang="en-US" sz="3249" spc="-178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Multimodal support</a:t>
            </a:r>
          </a:p>
          <a:p>
            <a:pPr algn="l" marL="701674" indent="-350837" lvl="1">
              <a:lnSpc>
                <a:spcPts val="5459"/>
              </a:lnSpc>
              <a:buFont typeface="Arial"/>
              <a:buChar char="•"/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Text, images, voice - RAG with built-in retrieval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4285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1061" y="1045107"/>
            <a:ext cx="11973771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Why join this Open-source project?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6696" y="2220174"/>
            <a:ext cx="14158904" cy="718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1674" indent="-350837" lvl="1">
              <a:lnSpc>
                <a:spcPts val="5719"/>
              </a:lnSpc>
              <a:buFont typeface="Arial"/>
              <a:buChar char="•"/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First AI framework in Scala ecosystem</a:t>
            </a:r>
          </a:p>
          <a:p>
            <a:pPr algn="l">
              <a:lnSpc>
                <a:spcPts val="5719"/>
              </a:lnSpc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        → </a:t>
            </a: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Be part of something historic</a:t>
            </a:r>
          </a:p>
          <a:p>
            <a:pPr algn="l">
              <a:lnSpc>
                <a:spcPts val="5719"/>
              </a:lnSpc>
            </a:pPr>
            <a:r>
              <a:rPr lang="en-US" sz="3249" spc="-178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         →  </a:t>
            </a: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Shape the future direction</a:t>
            </a:r>
          </a:p>
          <a:p>
            <a:pPr algn="l" marL="701674" indent="-350837" lvl="1">
              <a:lnSpc>
                <a:spcPts val="5719"/>
              </a:lnSpc>
              <a:buFont typeface="Arial"/>
              <a:buChar char="•"/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Learn from the best</a:t>
            </a:r>
          </a:p>
          <a:p>
            <a:pPr algn="l">
              <a:lnSpc>
                <a:spcPts val="5719"/>
              </a:lnSpc>
            </a:pPr>
            <a:r>
              <a:rPr lang="en-US" sz="3249" spc="-178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     </a:t>
            </a: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   → </a:t>
            </a: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Staff engineers, architects, engineering leaders mentor you</a:t>
            </a:r>
          </a:p>
          <a:p>
            <a:pPr algn="l" marL="701674" indent="-350837" lvl="1">
              <a:lnSpc>
                <a:spcPts val="5719"/>
              </a:lnSpc>
              <a:buFont typeface="Arial"/>
              <a:buChar char="•"/>
            </a:pPr>
            <a:r>
              <a:rPr lang="en-US" sz="3249" spc="-178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Weekly live coding sessions</a:t>
            </a:r>
          </a:p>
          <a:p>
            <a:pPr algn="l">
              <a:lnSpc>
                <a:spcPts val="5719"/>
              </a:lnSpc>
            </a:pPr>
            <a:r>
              <a:rPr lang="en-US" sz="3249" spc="-178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     </a:t>
            </a: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   → </a:t>
            </a: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Real learning, not just tutorials</a:t>
            </a:r>
          </a:p>
          <a:p>
            <a:pPr algn="l" marL="701674" indent="-350837" lvl="1">
              <a:lnSpc>
                <a:spcPts val="5719"/>
              </a:lnSpc>
              <a:buFont typeface="Arial"/>
              <a:buChar char="•"/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Google Summer of Code funding</a:t>
            </a:r>
          </a:p>
          <a:p>
            <a:pPr algn="l">
              <a:lnSpc>
                <a:spcPts val="5719"/>
              </a:lnSpc>
            </a:pPr>
            <a:r>
              <a:rPr lang="en-US" sz="3249" spc="-178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         →</a:t>
            </a:r>
            <a:r>
              <a:rPr lang="en-US" sz="3249" spc="-178">
                <a:solidFill>
                  <a:srgbClr val="343434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49" spc="-178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Get paid to contribute</a:t>
            </a:r>
          </a:p>
          <a:p>
            <a:pPr algn="l" marL="701674" indent="-350837" lvl="1">
              <a:lnSpc>
                <a:spcPts val="5719"/>
              </a:lnSpc>
              <a:buFont typeface="Arial"/>
              <a:buChar char="•"/>
            </a:pPr>
            <a:r>
              <a:rPr lang="en-US" b="true" sz="3249" spc="-178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Global community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EA433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5504" y="-431506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FFBF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0691" y="923925"/>
            <a:ext cx="5090428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The Team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7447" y="1897382"/>
            <a:ext cx="13764915" cy="802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maintainers: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Rory Graves</a:t>
            </a: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- Lead maintainer and chief architect</a:t>
            </a:r>
          </a:p>
          <a:p>
            <a:pPr algn="l" marL="680796" indent="-340398" lvl="1">
              <a:lnSpc>
                <a:spcPts val="6401"/>
              </a:lnSpc>
              <a:buFont typeface="Arial"/>
              <a:buChar char="•"/>
            </a:pPr>
            <a:r>
              <a:rPr lang="en-US" b="true" sz="3153" spc="-173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Staff engineer, Scala compiler contributor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Kannupriya Kalra</a:t>
            </a: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- Lead maintainer and community lead</a:t>
            </a:r>
          </a:p>
          <a:p>
            <a:pPr algn="l" marL="680796" indent="-340398" lvl="1">
              <a:lnSpc>
                <a:spcPts val="6401"/>
              </a:lnSpc>
              <a:buFont typeface="Arial"/>
              <a:buChar char="•"/>
            </a:pPr>
            <a:r>
              <a:rPr lang="en-US" b="true" sz="3153" spc="-173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Engineering leader, Scala Center mentor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Atul S. Khot</a:t>
            </a: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- Core contributor and design architect</a:t>
            </a:r>
          </a:p>
          <a:p>
            <a:pPr algn="l" marL="680796" indent="-340398" lvl="1">
              <a:lnSpc>
                <a:spcPts val="6401"/>
              </a:lnSpc>
              <a:buFont typeface="Arial"/>
              <a:buChar char="•"/>
            </a:pPr>
            <a:r>
              <a:rPr lang="en-US" b="true" sz="3153" spc="-173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Smart constructors, functional error handling, type class design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Vitthal Mirji</a:t>
            </a: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- Core contributor and Low-level design</a:t>
            </a:r>
          </a:p>
          <a:p>
            <a:pPr algn="l" marL="680796" indent="-340398" lvl="1">
              <a:lnSpc>
                <a:spcPts val="6401"/>
              </a:lnSpc>
              <a:buFont typeface="Arial"/>
              <a:buChar char="•"/>
            </a:pPr>
            <a:r>
              <a:rPr lang="en-US" b="true" sz="3153" spc="-173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Error handling hierarchy, Type class designs, FP patterns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Dmitry Mamonov</a:t>
            </a: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- Core contributor and integration specialist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34A85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166590" y="2282977"/>
            <a:ext cx="10934847" cy="712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6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When: Sunday 9am London time</a:t>
            </a:r>
          </a:p>
          <a:p>
            <a:pPr algn="l">
              <a:lnSpc>
                <a:spcPts val="6306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Where: </a:t>
            </a:r>
            <a:r>
              <a:rPr lang="en-US" b="true" sz="3153" spc="-173" u="sng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LLM4S Discord </a:t>
            </a: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 llm4s-dev-hour channel</a:t>
            </a:r>
          </a:p>
          <a:p>
            <a:pPr algn="l">
              <a:lnSpc>
                <a:spcPts val="6306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Calendar: Weekly Luma invite</a:t>
            </a:r>
          </a:p>
          <a:p>
            <a:pPr algn="l">
              <a:lnSpc>
                <a:spcPts val="6306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What happens:</a:t>
            </a:r>
          </a:p>
          <a:p>
            <a:pPr algn="l" marL="680796" indent="-340398" lvl="1">
              <a:lnSpc>
                <a:spcPts val="6306"/>
              </a:lnSpc>
              <a:buFont typeface="Arial"/>
              <a:buChar char="•"/>
            </a:pPr>
            <a:r>
              <a:rPr lang="en-US" b="true" sz="3153" spc="-173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Community votes on features</a:t>
            </a:r>
          </a:p>
          <a:p>
            <a:pPr algn="l" marL="680796" indent="-340398" lvl="1">
              <a:lnSpc>
                <a:spcPts val="6306"/>
              </a:lnSpc>
              <a:buFont typeface="Arial"/>
              <a:buChar char="•"/>
            </a:pPr>
            <a:r>
              <a:rPr lang="en-US" b="true" sz="3153" spc="-173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Mob programming live</a:t>
            </a:r>
          </a:p>
          <a:p>
            <a:pPr algn="l" marL="680796" indent="-340398" lvl="1">
              <a:lnSpc>
                <a:spcPts val="6306"/>
              </a:lnSpc>
              <a:buFont typeface="Arial"/>
              <a:buChar char="•"/>
            </a:pPr>
            <a:r>
              <a:rPr lang="en-US" b="true" sz="3153" spc="-173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Pair programming with staff engineers</a:t>
            </a:r>
          </a:p>
          <a:p>
            <a:pPr algn="l" marL="680796" indent="-340398" lvl="1">
              <a:lnSpc>
                <a:spcPts val="6306"/>
              </a:lnSpc>
              <a:buFont typeface="Arial"/>
              <a:buChar char="•"/>
            </a:pPr>
            <a:r>
              <a:rPr lang="en-US" b="true" sz="3153" spc="-173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Design architecture collaboratively</a:t>
            </a:r>
          </a:p>
          <a:p>
            <a:pPr algn="l" marL="680796" indent="-340398" lvl="1">
              <a:lnSpc>
                <a:spcPts val="6306"/>
              </a:lnSpc>
              <a:buFont typeface="Arial"/>
              <a:buChar char="•"/>
            </a:pPr>
            <a:r>
              <a:rPr lang="en-US" b="true" sz="3153" spc="-173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Ship features to production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1634" y="1269172"/>
            <a:ext cx="11344867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Every Sunday: Live Coding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3092" y="1844910"/>
            <a:ext cx="13038554" cy="810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Career impact:</a:t>
            </a:r>
          </a:p>
          <a:p>
            <a:pPr algn="l" marL="637617" indent="-318808" lvl="1">
              <a:lnSpc>
                <a:spcPts val="5906"/>
              </a:lnSpc>
              <a:buFont typeface="Arial"/>
              <a:buChar char="•"/>
            </a:pP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Portfolio standout: "Contributed to t</a:t>
            </a: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he f</a:t>
            </a:r>
            <a:r>
              <a:rPr lang="en-US" b="true" sz="2953" spc="-162" u="non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</a:t>
            </a: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</a:t>
            </a:r>
            <a:r>
              <a:rPr lang="en-US" b="true" sz="2953" spc="-162" u="non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</a:t>
            </a: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 S</a:t>
            </a:r>
            <a:r>
              <a:rPr lang="en-US" b="true" sz="2953" spc="-162" u="non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</a:t>
            </a: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ala</a:t>
            </a:r>
            <a:r>
              <a:rPr lang="en-US" b="true" sz="2953" spc="-162" u="non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</a:t>
            </a: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AI framework"</a:t>
            </a:r>
          </a:p>
          <a:p>
            <a:pPr algn="l" marL="637617" indent="-318808" lvl="1">
              <a:lnSpc>
                <a:spcPts val="5906"/>
              </a:lnSpc>
              <a:buFont typeface="Arial"/>
              <a:buChar char="•"/>
            </a:pP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Early adopter advantage: Shape the ecosystem before mainstream</a:t>
            </a:r>
          </a:p>
          <a:p>
            <a:pPr algn="l" marL="637617" indent="-318808" lvl="1">
              <a:lnSpc>
                <a:spcPts val="5906"/>
              </a:lnSpc>
              <a:buFont typeface="Arial"/>
              <a:buChar char="•"/>
            </a:pP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Unique exper</a:t>
            </a: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tise: Be the Scala plus AI expert</a:t>
            </a:r>
          </a:p>
          <a:p>
            <a:pPr algn="l" marL="637617" indent="-318808" lvl="1">
              <a:lnSpc>
                <a:spcPts val="5906"/>
              </a:lnSpc>
              <a:buFont typeface="Arial"/>
              <a:buChar char="•"/>
            </a:pP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Conference talks: Present your contributions at major events</a:t>
            </a:r>
          </a:p>
          <a:p>
            <a:pPr algn="l" marL="637617" indent="-318808" lvl="1">
              <a:lnSpc>
                <a:spcPts val="5906"/>
              </a:lnSpc>
              <a:buFont typeface="Arial"/>
              <a:buChar char="•"/>
            </a:pP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Hi</a:t>
            </a: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ring magnet: Companies need this skillset now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impact:</a:t>
            </a:r>
          </a:p>
          <a:p>
            <a:pPr algn="l" marL="637617" indent="-318808" lvl="1">
              <a:lnSpc>
                <a:spcPts val="5906"/>
              </a:lnSpc>
              <a:buFont typeface="Arial"/>
              <a:buChar char="•"/>
            </a:pP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Influence design decisions: Your ideas shape the future</a:t>
            </a:r>
          </a:p>
          <a:p>
            <a:pPr algn="l" marL="637617" indent="-318808" lvl="1">
              <a:lnSpc>
                <a:spcPts val="5906"/>
              </a:lnSpc>
              <a:buFont typeface="Arial"/>
              <a:buChar char="•"/>
            </a:pP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Learn cutting-edge patterns: Before they’re documented</a:t>
            </a:r>
          </a:p>
          <a:p>
            <a:pPr algn="l" marL="637617" indent="-318808" lvl="1">
              <a:lnSpc>
                <a:spcPts val="5906"/>
              </a:lnSpc>
              <a:buFont typeface="Arial"/>
              <a:buChar char="•"/>
            </a:pP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Bu</a:t>
            </a: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ild reputation: Known in Scala and AI communities</a:t>
            </a:r>
          </a:p>
          <a:p>
            <a:pPr algn="l" marL="637617" indent="-318808" lvl="1">
              <a:lnSpc>
                <a:spcPts val="5906"/>
              </a:lnSpc>
              <a:buFont typeface="Arial"/>
              <a:buChar char="•"/>
            </a:pPr>
            <a:r>
              <a:rPr lang="en-US" b="true" sz="2953" spc="-162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OSS credibility: Recognized by Scala Center, Lightbend, Typelevel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23925"/>
            <a:ext cx="11344867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First in the Scala Ecosystem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4285F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02983" y="1635381"/>
            <a:ext cx="15756317" cy="8273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6"/>
              </a:lnSpc>
            </a:pPr>
            <a:r>
              <a:rPr lang="en-US" sz="2753" spc="-151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2025 achievements:</a:t>
            </a:r>
          </a:p>
          <a:p>
            <a:pPr algn="l" marL="594438" indent="-297219" lvl="1">
              <a:lnSpc>
                <a:spcPts val="5506"/>
              </a:lnSpc>
              <a:buFont typeface="Arial"/>
              <a:buChar char="•"/>
            </a:pP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Selected for Goog</a:t>
            </a: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le Summer of Code 2025</a:t>
            </a:r>
          </a:p>
          <a:p>
            <a:pPr algn="l" marL="594438" indent="-297219" lvl="1">
              <a:lnSpc>
                <a:spcPts val="5506"/>
              </a:lnSpc>
              <a:buFont typeface="Arial"/>
              <a:buChar char="•"/>
            </a:pP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 GSoC contributors funded by Google</a:t>
            </a:r>
          </a:p>
          <a:p>
            <a:pPr algn="l" marL="594438" indent="-297219" lvl="1">
              <a:lnSpc>
                <a:spcPts val="5506"/>
              </a:lnSpc>
              <a:buFont typeface="Arial"/>
              <a:buChar char="•"/>
            </a:pP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Cross-</a:t>
            </a: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compilation support (Scala 2.13 and 3.x)</a:t>
            </a:r>
          </a:p>
          <a:p>
            <a:pPr algn="l" marL="594438" indent="-297219" lvl="1">
              <a:lnSpc>
                <a:spcPts val="5506"/>
              </a:lnSpc>
              <a:buFont typeface="Arial"/>
              <a:buChar char="•"/>
            </a:pP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Multi-provider abstraction complete</a:t>
            </a:r>
          </a:p>
          <a:p>
            <a:pPr algn="l" marL="594438" indent="-297219" lvl="1">
              <a:lnSpc>
                <a:spcPts val="5506"/>
              </a:lnSpc>
              <a:buFont typeface="Arial"/>
              <a:buChar char="•"/>
            </a:pP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Agent</a:t>
            </a: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 framework with tool calling</a:t>
            </a:r>
          </a:p>
          <a:p>
            <a:pPr algn="l" marL="594438" indent="-297219" lvl="1">
              <a:lnSpc>
                <a:spcPts val="5506"/>
              </a:lnSpc>
              <a:buFont typeface="Arial"/>
              <a:buChar char="•"/>
            </a:pP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Langfuse tracing integration</a:t>
            </a:r>
          </a:p>
          <a:p>
            <a:pPr algn="l" marL="594438" indent="-297219" lvl="1">
              <a:lnSpc>
                <a:spcPts val="5506"/>
              </a:lnSpc>
              <a:buFont typeface="Arial"/>
              <a:buChar char="•"/>
            </a:pP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Docker-based secure execution</a:t>
            </a:r>
          </a:p>
          <a:p>
            <a:pPr algn="l">
              <a:lnSpc>
                <a:spcPts val="5506"/>
              </a:lnSpc>
            </a:pPr>
            <a:r>
              <a:rPr lang="en-US" sz="2753" spc="-151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Conference presentations:</a:t>
            </a:r>
          </a:p>
          <a:p>
            <a:pPr algn="l" marL="594438" indent="-297219" lvl="1">
              <a:lnSpc>
                <a:spcPts val="5506"/>
              </a:lnSpc>
              <a:buFont typeface="Arial"/>
              <a:buChar char="•"/>
            </a:pP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Bay Ar</a:t>
            </a: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ea Scala, Scala India, Functional World, Dallas Scala Enthusiasts</a:t>
            </a:r>
          </a:p>
          <a:p>
            <a:pPr algn="l" marL="594438" indent="-297219" lvl="1">
              <a:lnSpc>
                <a:spcPts val="5506"/>
              </a:lnSpc>
              <a:buFont typeface="Arial"/>
              <a:buChar char="•"/>
            </a:pPr>
            <a:r>
              <a:rPr lang="en-US" b="true" sz="2753" spc="-151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Scala Days, GSoC Lightning Talks, ICFP/SPLASH</a:t>
            </a:r>
          </a:p>
          <a:p>
            <a:pPr algn="l">
              <a:lnSpc>
                <a:spcPts val="5506"/>
              </a:lnSpc>
            </a:pPr>
            <a:r>
              <a:rPr lang="en-US" sz="2753" spc="-151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v1.0 production scheduled release - December 2025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8387" y="766699"/>
            <a:ext cx="11344867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Progress &amp; Momentum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FFBF0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22887" y="-4247682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5926" y="766998"/>
            <a:ext cx="11344867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Production Ready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7591" y="1616331"/>
            <a:ext cx="15756317" cy="810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production ready means: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 safety: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Compile-time error checking, Exhaustive pattern matching, Smart constructors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Error handling: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Either-based composition, Recoverable vs non-recoverable errors, Retry strategies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Observability: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Langfuse tracing integration, Token usage tracking, Performance metrics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Scalability: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Async operations with Futures, Context management, Connection pooling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Security:</a:t>
            </a:r>
          </a:p>
          <a:p>
            <a:pPr algn="l">
              <a:lnSpc>
                <a:spcPts val="5906"/>
              </a:lnSpc>
            </a:pPr>
            <a:r>
              <a:rPr lang="en-US" sz="2953" spc="-162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Docker Container Isolation, API key Management, Secure Workspace Execution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EA433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55504" y="-4315065"/>
            <a:ext cx="19258069" cy="19258069"/>
          </a:xfrm>
          <a:custGeom>
            <a:avLst/>
            <a:gdLst/>
            <a:ahLst/>
            <a:cxnLst/>
            <a:rect r="r" b="b" t="t" l="l"/>
            <a:pathLst>
              <a:path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624422"/>
            <a:chOff x="0" y="0"/>
            <a:chExt cx="4816593" cy="164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64457"/>
            </a:xfrm>
            <a:custGeom>
              <a:avLst/>
              <a:gdLst/>
              <a:ahLst/>
              <a:cxnLst/>
              <a:rect r="r" b="b" t="t" l="l"/>
              <a:pathLst>
                <a:path h="1644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FFBF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4816593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3239" t="0" r="-6026" b="-593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20691" y="923925"/>
            <a:ext cx="5090428" cy="830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719"/>
              </a:lnSpc>
            </a:pPr>
            <a:r>
              <a:rPr lang="en-US" sz="4799">
                <a:solidFill>
                  <a:srgbClr val="343434"/>
                </a:solidFill>
                <a:latin typeface="Comic Sans"/>
                <a:ea typeface="Comic Sans"/>
                <a:cs typeface="Comic Sans"/>
                <a:sym typeface="Comic Sans"/>
              </a:rPr>
              <a:t>Global Community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9805" y="3253133"/>
            <a:ext cx="13764915" cy="6401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GSoC 2025 contributors: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Elvan Konukseven (Switzerland) - Agentic toolkit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Gopi Trinadh Maddikunta (India) - RAG in a box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Anshuman Awasthi (India) - Multimodal support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Shubham Vishwakarma (India) - Tracing system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Join the community: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Discord: </a:t>
            </a:r>
            <a:r>
              <a:rPr lang="en-US" b="true" sz="3153" i="true" spc="-173">
                <a:solidFill>
                  <a:srgbClr val="004AAD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https://discord.gg/4uvTPn6qww</a:t>
            </a:r>
          </a:p>
          <a:p>
            <a:pPr algn="l">
              <a:lnSpc>
                <a:spcPts val="6401"/>
              </a:lnSpc>
            </a:pPr>
            <a:r>
              <a:rPr lang="en-US" sz="3153" spc="-173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GitHub: </a:t>
            </a:r>
            <a:r>
              <a:rPr lang="en-US" b="true" sz="3153" i="true" spc="-173">
                <a:solidFill>
                  <a:srgbClr val="004AAD"/>
                </a:solidFill>
                <a:latin typeface="Canva Sans Medium Italics"/>
                <a:ea typeface="Canva Sans Medium Italics"/>
                <a:cs typeface="Canva Sans Medium Italics"/>
                <a:sym typeface="Canva Sans Medium Italics"/>
              </a:rPr>
              <a:t>https://github.com/llm4s/llm4s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0691" y="2125982"/>
            <a:ext cx="16326722" cy="98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38"/>
              </a:lnSpc>
              <a:spcBef>
                <a:spcPct val="0"/>
              </a:spcBef>
            </a:pPr>
            <a:r>
              <a:rPr lang="en-US" b="true" sz="3053" spc="-167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Contributors across the globe: USA, United Kingdom, Poland, India, Turkey, Germany, Switzerland, Singapore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44867" y="8876400"/>
            <a:ext cx="1228866" cy="1069505"/>
          </a:xfrm>
          <a:custGeom>
            <a:avLst/>
            <a:gdLst/>
            <a:ahLst/>
            <a:cxnLst/>
            <a:rect r="r" b="b" t="t" l="l"/>
            <a:pathLst>
              <a:path h="1069505" w="1228866">
                <a:moveTo>
                  <a:pt x="0" y="0"/>
                </a:moveTo>
                <a:lnTo>
                  <a:pt x="1228866" y="0"/>
                </a:lnTo>
                <a:lnTo>
                  <a:pt x="1228866" y="1069505"/>
                </a:lnTo>
                <a:lnTo>
                  <a:pt x="0" y="1069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3239" t="0" r="-6026" b="-593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4572000" cy="624422"/>
            <a:chOff x="0" y="0"/>
            <a:chExt cx="1204148" cy="1644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04148" cy="164457"/>
            </a:xfrm>
            <a:custGeom>
              <a:avLst/>
              <a:gdLst/>
              <a:ahLst/>
              <a:cxnLst/>
              <a:rect r="r" b="b" t="t" l="l"/>
              <a:pathLst>
                <a:path h="164457" w="1204148">
                  <a:moveTo>
                    <a:pt x="0" y="0"/>
                  </a:moveTo>
                  <a:lnTo>
                    <a:pt x="1204148" y="0"/>
                  </a:lnTo>
                  <a:lnTo>
                    <a:pt x="1204148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FBBC0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204148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16000" y="0"/>
            <a:ext cx="4572000" cy="624422"/>
            <a:chOff x="0" y="0"/>
            <a:chExt cx="1204148" cy="1644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4148" cy="164457"/>
            </a:xfrm>
            <a:custGeom>
              <a:avLst/>
              <a:gdLst/>
              <a:ahLst/>
              <a:cxnLst/>
              <a:rect r="r" b="b" t="t" l="l"/>
              <a:pathLst>
                <a:path h="164457" w="1204148">
                  <a:moveTo>
                    <a:pt x="0" y="0"/>
                  </a:moveTo>
                  <a:lnTo>
                    <a:pt x="1204148" y="0"/>
                  </a:lnTo>
                  <a:lnTo>
                    <a:pt x="1204148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34A85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04148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572000" y="0"/>
            <a:ext cx="4572000" cy="624422"/>
            <a:chOff x="0" y="0"/>
            <a:chExt cx="1204148" cy="1644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4148" cy="164457"/>
            </a:xfrm>
            <a:custGeom>
              <a:avLst/>
              <a:gdLst/>
              <a:ahLst/>
              <a:cxnLst/>
              <a:rect r="r" b="b" t="t" l="l"/>
              <a:pathLst>
                <a:path h="164457" w="1204148">
                  <a:moveTo>
                    <a:pt x="0" y="0"/>
                  </a:moveTo>
                  <a:lnTo>
                    <a:pt x="1204148" y="0"/>
                  </a:lnTo>
                  <a:lnTo>
                    <a:pt x="1204148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DE261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204148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0"/>
            <a:ext cx="4572000" cy="624422"/>
            <a:chOff x="0" y="0"/>
            <a:chExt cx="1204148" cy="164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4148" cy="164457"/>
            </a:xfrm>
            <a:custGeom>
              <a:avLst/>
              <a:gdLst/>
              <a:ahLst/>
              <a:cxnLst/>
              <a:rect r="r" b="b" t="t" l="l"/>
              <a:pathLst>
                <a:path h="164457" w="1204148">
                  <a:moveTo>
                    <a:pt x="0" y="0"/>
                  </a:moveTo>
                  <a:lnTo>
                    <a:pt x="1204148" y="0"/>
                  </a:lnTo>
                  <a:lnTo>
                    <a:pt x="1204148" y="164457"/>
                  </a:lnTo>
                  <a:lnTo>
                    <a:pt x="0" y="164457"/>
                  </a:lnTo>
                  <a:close/>
                </a:path>
              </a:pathLst>
            </a:custGeom>
            <a:solidFill>
              <a:srgbClr val="4285F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04148" cy="173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747163" y="-4774358"/>
            <a:ext cx="19258069" cy="19258069"/>
            <a:chOff x="0" y="0"/>
            <a:chExt cx="25677426" cy="256774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77426" cy="25677426"/>
            </a:xfrm>
            <a:custGeom>
              <a:avLst/>
              <a:gdLst/>
              <a:ahLst/>
              <a:cxnLst/>
              <a:rect r="r" b="b" t="t" l="l"/>
              <a:pathLst>
                <a:path h="25677426" w="25677426">
                  <a:moveTo>
                    <a:pt x="0" y="0"/>
                  </a:moveTo>
                  <a:lnTo>
                    <a:pt x="25677426" y="0"/>
                  </a:lnTo>
                  <a:lnTo>
                    <a:pt x="25677426" y="25677426"/>
                  </a:lnTo>
                  <a:lnTo>
                    <a:pt x="0" y="25677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19334257" y="11281786"/>
              <a:ext cx="4823990" cy="482399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85F4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33293" lIns="33293" bIns="33293" rIns="33293"/>
              <a:lstStyle/>
              <a:p>
                <a:pPr algn="ctr">
                  <a:lnSpc>
                    <a:spcPts val="1874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454054" y="11401582"/>
              <a:ext cx="4584397" cy="4584397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0" t="-6497" r="0" b="-6497"/>
                </a:stretch>
              </a:blipFill>
            </p:spPr>
          </p:sp>
        </p:grpSp>
      </p:grpSp>
      <p:grpSp>
        <p:nvGrpSpPr>
          <p:cNvPr name="Group 22" id="22"/>
          <p:cNvGrpSpPr/>
          <p:nvPr/>
        </p:nvGrpSpPr>
        <p:grpSpPr>
          <a:xfrm rot="0">
            <a:off x="9694494" y="3558720"/>
            <a:ext cx="3717796" cy="3717796"/>
            <a:chOff x="0" y="0"/>
            <a:chExt cx="4957061" cy="495706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957061" cy="4957061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285F4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66675"/>
                <a:ext cx="660400" cy="669925"/>
              </a:xfrm>
              <a:prstGeom prst="rect">
                <a:avLst/>
              </a:prstGeom>
            </p:spPr>
            <p:txBody>
              <a:bodyPr anchor="ctr" rtlCol="false" tIns="33293" lIns="33293" bIns="33293" rIns="33293"/>
              <a:lstStyle/>
              <a:p>
                <a:pPr algn="ctr">
                  <a:lnSpc>
                    <a:spcPts val="1874"/>
                  </a:lnSpc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94149" y="94149"/>
              <a:ext cx="4768763" cy="4768763"/>
            </a:xfrm>
            <a:custGeom>
              <a:avLst/>
              <a:gdLst/>
              <a:ahLst/>
              <a:cxnLst/>
              <a:rect r="r" b="b" t="t" l="l"/>
              <a:pathLst>
                <a:path h="4768763" w="4768763">
                  <a:moveTo>
                    <a:pt x="0" y="0"/>
                  </a:moveTo>
                  <a:lnTo>
                    <a:pt x="4768763" y="0"/>
                  </a:lnTo>
                  <a:lnTo>
                    <a:pt x="4768763" y="4768763"/>
                  </a:lnTo>
                  <a:lnTo>
                    <a:pt x="0" y="4768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842518" y="969040"/>
            <a:ext cx="12078707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343434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THANK YOU &amp; GET STARTED!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60771" y="2377876"/>
            <a:ext cx="9182204" cy="688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1"/>
              </a:lnSpc>
            </a:pPr>
            <a:r>
              <a:rPr lang="en-US" sz="3460" spc="-190" b="true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Join us today:</a:t>
            </a:r>
          </a:p>
          <a:p>
            <a:pPr algn="l">
              <a:lnSpc>
                <a:spcPts val="6921"/>
              </a:lnSpc>
            </a:pPr>
            <a:r>
              <a:rPr lang="en-US" sz="3460" spc="-190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Discord: https://discord.gg/4uvTPn6qww GitHub: https://github.com/llm4s/llm4s </a:t>
            </a:r>
          </a:p>
          <a:p>
            <a:pPr algn="l">
              <a:lnSpc>
                <a:spcPts val="6921"/>
              </a:lnSpc>
            </a:pPr>
            <a:r>
              <a:rPr lang="en-US" sz="3460" spc="-190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Weekly dev hour links</a:t>
            </a:r>
            <a:r>
              <a:rPr lang="en-US" sz="3460" spc="-190" b="true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: </a:t>
            </a:r>
            <a:r>
              <a:rPr lang="en-US" b="true" sz="3460" spc="-190" u="sng">
                <a:solidFill>
                  <a:srgbClr val="343434"/>
                </a:solidFill>
                <a:latin typeface="Canva Sans Medium"/>
                <a:ea typeface="Canva Sans Medium"/>
                <a:cs typeface="Canva Sans Medium"/>
                <a:sym typeface="Canva Sans Medium"/>
                <a:hlinkClick r:id="rId8" tooltip="https://luma.com/calendar/cal-Zd9BLb5jbZewxLA"/>
              </a:rPr>
              <a:t>https://luma.com/calendar/cal-Zd9BLb5jbZewxLA</a:t>
            </a:r>
          </a:p>
          <a:p>
            <a:pPr algn="ctr">
              <a:lnSpc>
                <a:spcPts val="6921"/>
              </a:lnSpc>
            </a:pPr>
            <a:r>
              <a:rPr lang="en-US" b="true" sz="3460" spc="-190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See you in dev hours every Sunday 2 30pm IST.</a:t>
            </a:r>
          </a:p>
          <a:p>
            <a:pPr algn="ctr">
              <a:lnSpc>
                <a:spcPts val="6921"/>
              </a:lnSpc>
            </a:pPr>
            <a:r>
              <a:rPr lang="en-US" b="true" sz="3460" spc="-190">
                <a:solidFill>
                  <a:srgbClr val="34343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Let’s build the future of AI together.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43460" y="7905166"/>
            <a:ext cx="5345081" cy="761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254"/>
              </a:lnSpc>
            </a:pPr>
            <a:r>
              <a:rPr lang="en-US" sz="4467">
                <a:solidFill>
                  <a:srgbClr val="343434"/>
                </a:solidFill>
                <a:latin typeface="Agbalumo"/>
                <a:ea typeface="Agbalumo"/>
                <a:cs typeface="Agbalumo"/>
                <a:sym typeface="Agbalumo"/>
              </a:rPr>
              <a:t>Connect with us  :)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DAG6T-bABdg</dc:identifier>
  <dcterms:modified xsi:type="dcterms:W3CDTF">2011-08-01T06:04:30Z</dcterms:modified>
  <cp:revision>1</cp:revision>
  <dc:title>LLM4S_Building_Reliable_AI Systems_in_the_JVM_Ecosystem_without_Speaker_Notes</dc:title>
</cp:coreProperties>
</file>